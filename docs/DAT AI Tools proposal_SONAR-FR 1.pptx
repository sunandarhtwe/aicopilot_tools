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61" r:id="rId5"/>
    <p:sldId id="259"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00" d="100"/>
          <a:sy n="100" d="100"/>
        </p:scale>
        <p:origin x="-954" y="-31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col"/>
        <c:grouping val="clustered"/>
        <c:varyColors val="1"/>
        <c:ser>
          <c:idx val="0"/>
          <c:order val="0"/>
          <c:tx>
            <c:strRef>
              <c:f>Sheet1!$B$1</c:f>
              <c:strCache>
                <c:ptCount val="1"/>
                <c:pt idx="0">
                  <c:v>設計書ベース実質カバレッジ</c:v>
                </c:pt>
              </c:strCache>
            </c:strRef>
          </c:tx>
          <c:invertIfNegative val="1"/>
          <c:dPt>
            <c:idx val="0"/>
            <c:invertIfNegative val="1"/>
            <c:bubble3D val="0"/>
            <c:spPr>
              <a:solidFill>
                <a:srgbClr val="548235"/>
              </a:solidFill>
            </c:spPr>
          </c:dPt>
          <c:dPt>
            <c:idx val="1"/>
            <c:invertIfNegative val="1"/>
            <c:bubble3D val="0"/>
            <c:spPr>
              <a:solidFill>
                <a:srgbClr val="2E75B6"/>
              </a:solidFill>
            </c:spPr>
          </c:dPt>
          <c:dLbls>
            <c:numFmt formatCode="0&quot;%&quot;" sourceLinked="0"/>
            <c:txPr>
              <a:bodyPr/>
              <a:lstStyle/>
              <a:p>
                <a:pPr>
                  <a:defRPr sz="900" b="1"/>
                </a:pPr>
                <a:endParaRPr lang="en-US"/>
              </a:p>
            </c:txPr>
            <c:showLegendKey val="0"/>
            <c:showVal val="1"/>
            <c:showCatName val="0"/>
            <c:showSerName val="0"/>
            <c:showPercent val="0"/>
            <c:showBubbleSize val="0"/>
            <c:showLeaderLines val="0"/>
          </c:dLbls>
          <c:cat>
            <c:strRef>
              <c:f>Sheet1!$A$2:$A$3</c:f>
              <c:strCache>
                <c:ptCount val="2"/>
                <c:pt idx="0">
                  <c:v>OpenAI</c:v>
                </c:pt>
                <c:pt idx="1">
                  <c:v>GitHub Copilot</c:v>
                </c:pt>
              </c:strCache>
            </c:strRef>
          </c:cat>
          <c:val>
            <c:numRef>
              <c:f>Sheet1!$B$2:$B$3</c:f>
              <c:numCache>
                <c:formatCode>General</c:formatCode>
                <c:ptCount val="2"/>
                <c:pt idx="0">
                  <c:v>93</c:v>
                </c:pt>
                <c:pt idx="1">
                  <c:v>68</c:v>
                </c:pt>
              </c:numCache>
            </c:numRef>
          </c:val>
        </c:ser>
        <c:dLbls>
          <c:showLegendKey val="0"/>
          <c:showVal val="1"/>
          <c:showCatName val="0"/>
          <c:showSerName val="0"/>
          <c:showPercent val="0"/>
          <c:showBubbleSize val="0"/>
        </c:dLbls>
        <c:gapWidth val="150"/>
        <c:axId val="95077120"/>
        <c:axId val="101681408"/>
      </c:barChart>
      <c:catAx>
        <c:axId val="95077120"/>
        <c:scaling>
          <c:orientation val="minMax"/>
        </c:scaling>
        <c:delete val="0"/>
        <c:axPos val="b"/>
        <c:majorTickMark val="out"/>
        <c:minorTickMark val="none"/>
        <c:tickLblPos val="nextTo"/>
        <c:txPr>
          <a:bodyPr/>
          <a:lstStyle/>
          <a:p>
            <a:pPr>
              <a:defRPr sz="800"/>
            </a:pPr>
            <a:endParaRPr lang="en-US"/>
          </a:p>
        </c:txPr>
        <c:crossAx val="101681408"/>
        <c:crosses val="autoZero"/>
        <c:auto val="1"/>
        <c:lblAlgn val="ctr"/>
        <c:lblOffset val="100"/>
        <c:noMultiLvlLbl val="0"/>
      </c:catAx>
      <c:valAx>
        <c:axId val="101681408"/>
        <c:scaling>
          <c:orientation val="minMax"/>
          <c:max val="100"/>
        </c:scaling>
        <c:delete val="0"/>
        <c:axPos val="l"/>
        <c:numFmt formatCode="General" sourceLinked="1"/>
        <c:majorTickMark val="out"/>
        <c:minorTickMark val="none"/>
        <c:tickLblPos val="nextTo"/>
        <c:txPr>
          <a:bodyPr/>
          <a:lstStyle/>
          <a:p>
            <a:pPr>
              <a:defRPr sz="700"/>
            </a:pPr>
            <a:endParaRPr lang="en-US"/>
          </a:p>
        </c:txPr>
        <c:crossAx val="95077120"/>
        <c:crosses val="autoZero"/>
        <c:crossBetween val="between"/>
      </c:valAx>
    </c:plotArea>
    <c:plotVisOnly val="1"/>
    <c:dispBlanksAs val="gap"/>
    <c:showDLblsOverMax val="1"/>
  </c:chart>
  <c:txPr>
    <a:bodyPr/>
    <a:lstStyle/>
    <a:p>
      <a:pPr>
        <a:defRPr sz="750">
          <a:latin typeface="Yu Gothic"/>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col"/>
        <c:grouping val="clustered"/>
        <c:varyColors val="1"/>
        <c:ser>
          <c:idx val="0"/>
          <c:order val="0"/>
          <c:tx>
            <c:strRef>
              <c:f>Sheet1!$B$1</c:f>
              <c:strCache>
                <c:ptCount val="1"/>
                <c:pt idx="0">
                  <c:v>ツール自己申告</c:v>
                </c:pt>
              </c:strCache>
            </c:strRef>
          </c:tx>
          <c:spPr>
            <a:solidFill>
              <a:srgbClr val="D9D9D9"/>
            </a:solidFill>
          </c:spPr>
          <c:invertIfNegative val="1"/>
          <c:dLbls>
            <c:numFmt formatCode="0.0&quot;%&quot;" sourceLinked="0"/>
            <c:txPr>
              <a:bodyPr/>
              <a:lstStyle/>
              <a:p>
                <a:pPr>
                  <a:defRPr sz="750"/>
                </a:pPr>
                <a:endParaRPr lang="en-US"/>
              </a:p>
            </c:txPr>
            <c:showLegendKey val="0"/>
            <c:showVal val="1"/>
            <c:showCatName val="0"/>
            <c:showSerName val="0"/>
            <c:showPercent val="0"/>
            <c:showBubbleSize val="0"/>
            <c:showLeaderLines val="0"/>
          </c:dLbls>
          <c:cat>
            <c:strRef>
              <c:f>Sheet1!$A$2:$A$3</c:f>
              <c:strCache>
                <c:ptCount val="2"/>
                <c:pt idx="0">
                  <c:v>OpenAI</c:v>
                </c:pt>
                <c:pt idx="1">
                  <c:v>GitHub Copilot</c:v>
                </c:pt>
              </c:strCache>
            </c:strRef>
          </c:cat>
          <c:val>
            <c:numRef>
              <c:f>Sheet1!$B$2:$B$3</c:f>
              <c:numCache>
                <c:formatCode>General</c:formatCode>
                <c:ptCount val="2"/>
                <c:pt idx="0">
                  <c:v>85.4</c:v>
                </c:pt>
                <c:pt idx="1">
                  <c:v>67.900000000000006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Lst>
        </c:ser>
        <c:ser>
          <c:idx val="1"/>
          <c:order val="1"/>
          <c:tx>
            <c:strRef>
              <c:f>Sheet1!$C$1</c:f>
              <c:strCache>
                <c:ptCount val="1"/>
                <c:pt idx="0">
                  <c:v>設計書ベース実質</c:v>
                </c:pt>
              </c:strCache>
            </c:strRef>
          </c:tx>
          <c:spPr>
            <a:solidFill>
              <a:srgbClr val="1F3864"/>
            </a:solidFill>
          </c:spPr>
          <c:invertIfNegative val="1"/>
          <c:dLbls>
            <c:numFmt formatCode="0.0&quot;%&quot;" sourceLinked="0"/>
            <c:txPr>
              <a:bodyPr/>
              <a:lstStyle/>
              <a:p>
                <a:pPr>
                  <a:defRPr sz="750"/>
                </a:pPr>
                <a:endParaRPr lang="en-US"/>
              </a:p>
            </c:txPr>
            <c:showLegendKey val="0"/>
            <c:showVal val="1"/>
            <c:showCatName val="0"/>
            <c:showSerName val="0"/>
            <c:showPercent val="0"/>
            <c:showBubbleSize val="0"/>
            <c:showLeaderLines val="0"/>
          </c:dLbls>
          <c:cat>
            <c:strRef>
              <c:f>Sheet1!$A$2:$A$3</c:f>
              <c:strCache>
                <c:ptCount val="2"/>
                <c:pt idx="0">
                  <c:v>OpenAI</c:v>
                </c:pt>
                <c:pt idx="1">
                  <c:v>GitHub Copilot</c:v>
                </c:pt>
              </c:strCache>
            </c:strRef>
          </c:cat>
          <c:val>
            <c:numRef>
              <c:f>Sheet1!$C$2:$C$3</c:f>
              <c:numCache>
                <c:formatCode>General</c:formatCode>
                <c:ptCount val="2"/>
                <c:pt idx="0">
                  <c:v>93</c:v>
                </c:pt>
                <c:pt idx="1">
                  <c:v>68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Lst>
        </c:ser>
        <c:dLbls>
          <c:showLegendKey val="0"/>
          <c:showVal val="1"/>
          <c:showCatName val="0"/>
          <c:showSerName val="0"/>
          <c:showPercent val="0"/>
          <c:showBubbleSize val="0"/>
        </c:dLbls>
        <c:gapWidth val="150"/>
        <c:axId val="117844992"/>
        <c:axId val="126616320"/>
      </c:barChart>
      <c:catAx>
        <c:axId val="117844992"/>
        <c:scaling>
          <c:orientation val="minMax"/>
        </c:scaling>
        <c:delete val="0"/>
        <c:axPos val="b"/>
        <c:majorTickMark val="out"/>
        <c:minorTickMark val="none"/>
        <c:tickLblPos val="nextTo"/>
        <c:txPr>
          <a:bodyPr/>
          <a:lstStyle/>
          <a:p>
            <a:pPr>
              <a:defRPr sz="800"/>
            </a:pPr>
            <a:endParaRPr lang="en-US"/>
          </a:p>
        </c:txPr>
        <c:crossAx val="126616320"/>
        <c:crosses val="autoZero"/>
        <c:auto val="1"/>
        <c:lblAlgn val="ctr"/>
        <c:lblOffset val="100"/>
        <c:noMultiLvlLbl val="0"/>
      </c:catAx>
      <c:valAx>
        <c:axId val="126616320"/>
        <c:scaling>
          <c:orientation val="minMax"/>
          <c:max val="100"/>
        </c:scaling>
        <c:delete val="0"/>
        <c:axPos val="l"/>
        <c:numFmt formatCode="General" sourceLinked="1"/>
        <c:majorTickMark val="out"/>
        <c:minorTickMark val="none"/>
        <c:tickLblPos val="nextTo"/>
        <c:txPr>
          <a:bodyPr/>
          <a:lstStyle/>
          <a:p>
            <a:pPr>
              <a:defRPr sz="700"/>
            </a:pPr>
            <a:endParaRPr lang="en-US"/>
          </a:p>
        </c:txPr>
        <c:crossAx val="117844992"/>
        <c:crosses val="autoZero"/>
        <c:crossBetween val="between"/>
      </c:valAx>
    </c:plotArea>
    <c:legend>
      <c:legendPos val="t"/>
      <c:layout/>
      <c:overlay val="0"/>
      <c:txPr>
        <a:bodyPr/>
        <a:lstStyle/>
        <a:p>
          <a:pPr>
            <a:defRPr sz="700"/>
          </a:pPr>
          <a:endParaRPr lang="en-US"/>
        </a:p>
      </c:txPr>
    </c:legend>
    <c:plotVisOnly val="1"/>
    <c:dispBlanksAs val="gap"/>
    <c:showDLblsOverMax val="1"/>
  </c:chart>
  <c:txPr>
    <a:bodyPr/>
    <a:lstStyle/>
    <a:p>
      <a:pPr>
        <a:defRPr sz="750">
          <a:latin typeface="Yu Gothic"/>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stacked"/>
        <c:varyColors val="1"/>
        <c:ser>
          <c:idx val="0"/>
          <c:order val="0"/>
          <c:tx>
            <c:strRef>
              <c:f>Sheet1!$B$1</c:f>
              <c:strCache>
                <c:ptCount val="1"/>
                <c:pt idx="0">
                  <c:v>○ 十分に検証</c:v>
                </c:pt>
              </c:strCache>
            </c:strRef>
          </c:tx>
          <c:spPr>
            <a:solidFill>
              <a:srgbClr val="548235"/>
            </a:solidFill>
          </c:spPr>
          <c:invertIfNegative val="1"/>
          <c:dLbls>
            <c:txPr>
              <a:bodyPr/>
              <a:lstStyle/>
              <a:p>
                <a:pPr>
                  <a:defRPr sz="700"/>
                </a:pPr>
                <a:endParaRPr lang="en-US"/>
              </a:p>
            </c:txPr>
            <c:showLegendKey val="0"/>
            <c:showVal val="1"/>
            <c:showCatName val="0"/>
            <c:showSerName val="0"/>
            <c:showPercent val="0"/>
            <c:showBubbleSize val="0"/>
            <c:showLeaderLines val="0"/>
          </c:dLbls>
          <c:cat>
            <c:strRef>
              <c:f>Sheet1!$A$2:$A$3</c:f>
              <c:strCache>
                <c:ptCount val="2"/>
                <c:pt idx="0">
                  <c:v>OpenAI</c:v>
                </c:pt>
                <c:pt idx="1">
                  <c:v>GitHub Copilot</c:v>
                </c:pt>
              </c:strCache>
            </c:strRef>
          </c:cat>
          <c:val>
            <c:numRef>
              <c:f>Sheet1!$B$2:$B$3</c:f>
              <c:numCache>
                <c:formatCode>General</c:formatCode>
                <c:ptCount val="2"/>
                <c:pt idx="0">
                  <c:v>18</c:v>
                </c:pt>
                <c:pt idx="1">
                  <c:v>11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Lst>
        </c:ser>
        <c:ser>
          <c:idx val="1"/>
          <c:order val="1"/>
          <c:tx>
            <c:strRef>
              <c:f>Sheet1!$C$1</c:f>
              <c:strCache>
                <c:ptCount val="1"/>
                <c:pt idx="0">
                  <c:v>△ 部分的・汎用的</c:v>
                </c:pt>
              </c:strCache>
            </c:strRef>
          </c:tx>
          <c:spPr>
            <a:solidFill>
              <a:srgbClr val="BF8F00"/>
            </a:solidFill>
          </c:spPr>
          <c:invertIfNegative val="1"/>
          <c:dLbls>
            <c:txPr>
              <a:bodyPr/>
              <a:lstStyle/>
              <a:p>
                <a:pPr>
                  <a:defRPr sz="700"/>
                </a:pPr>
                <a:endParaRPr lang="en-US"/>
              </a:p>
            </c:txPr>
            <c:showLegendKey val="0"/>
            <c:showVal val="1"/>
            <c:showCatName val="0"/>
            <c:showSerName val="0"/>
            <c:showPercent val="0"/>
            <c:showBubbleSize val="0"/>
            <c:showLeaderLines val="0"/>
          </c:dLbls>
          <c:cat>
            <c:strRef>
              <c:f>Sheet1!$A$2:$A$3</c:f>
              <c:strCache>
                <c:ptCount val="2"/>
                <c:pt idx="0">
                  <c:v>OpenAI</c:v>
                </c:pt>
                <c:pt idx="1">
                  <c:v>GitHub Copilot</c:v>
                </c:pt>
              </c:strCache>
            </c:strRef>
          </c:cat>
          <c:val>
            <c:numRef>
              <c:f>Sheet1!$C$2:$C$3</c:f>
              <c:numCache>
                <c:formatCode>General</c:formatCode>
                <c:ptCount val="2"/>
                <c:pt idx="0">
                  <c:v>3</c:v>
                </c:pt>
                <c:pt idx="1">
                  <c:v>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Lst>
        </c:ser>
        <c:ser>
          <c:idx val="2"/>
          <c:order val="2"/>
          <c:tx>
            <c:strRef>
              <c:f>Sheet1!$D$1</c:f>
              <c:strCache>
                <c:ptCount val="1"/>
                <c:pt idx="0">
                  <c:v>✗ 未検証</c:v>
                </c:pt>
              </c:strCache>
            </c:strRef>
          </c:tx>
          <c:spPr>
            <a:solidFill>
              <a:srgbClr val="C9A0A0"/>
            </a:solidFill>
          </c:spPr>
          <c:invertIfNegative val="1"/>
          <c:dLbls>
            <c:txPr>
              <a:bodyPr/>
              <a:lstStyle/>
              <a:p>
                <a:pPr>
                  <a:defRPr sz="700"/>
                </a:pPr>
                <a:endParaRPr lang="en-US"/>
              </a:p>
            </c:txPr>
            <c:showLegendKey val="0"/>
            <c:showVal val="1"/>
            <c:showCatName val="0"/>
            <c:showSerName val="0"/>
            <c:showPercent val="0"/>
            <c:showBubbleSize val="0"/>
            <c:showLeaderLines val="0"/>
          </c:dLbls>
          <c:cat>
            <c:strRef>
              <c:f>Sheet1!$A$2:$A$3</c:f>
              <c:strCache>
                <c:ptCount val="2"/>
                <c:pt idx="0">
                  <c:v>OpenAI</c:v>
                </c:pt>
                <c:pt idx="1">
                  <c:v>GitHub Copilot</c:v>
                </c:pt>
              </c:strCache>
            </c:strRef>
          </c:cat>
          <c:val>
            <c:numRef>
              <c:f>Sheet1!$D$2:$D$3</c:f>
              <c:numCache>
                <c:formatCode>General</c:formatCode>
                <c:ptCount val="2"/>
                <c:pt idx="0">
                  <c:v>0</c:v>
                </c:pt>
                <c:pt idx="1">
                  <c:v>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Lst>
        </c:ser>
        <c:dLbls>
          <c:showLegendKey val="0"/>
          <c:showVal val="1"/>
          <c:showCatName val="0"/>
          <c:showSerName val="0"/>
          <c:showPercent val="0"/>
          <c:showBubbleSize val="0"/>
        </c:dLbls>
        <c:gapWidth val="150"/>
        <c:overlap val="100"/>
        <c:axId val="126635008"/>
        <c:axId val="126636800"/>
      </c:barChart>
      <c:catAx>
        <c:axId val="126635008"/>
        <c:scaling>
          <c:orientation val="minMax"/>
        </c:scaling>
        <c:delete val="0"/>
        <c:axPos val="l"/>
        <c:majorTickMark val="out"/>
        <c:minorTickMark val="none"/>
        <c:tickLblPos val="nextTo"/>
        <c:txPr>
          <a:bodyPr/>
          <a:lstStyle/>
          <a:p>
            <a:pPr>
              <a:defRPr sz="800"/>
            </a:pPr>
            <a:endParaRPr lang="en-US"/>
          </a:p>
        </c:txPr>
        <c:crossAx val="126636800"/>
        <c:crosses val="autoZero"/>
        <c:auto val="1"/>
        <c:lblAlgn val="ctr"/>
        <c:lblOffset val="100"/>
        <c:noMultiLvlLbl val="0"/>
      </c:catAx>
      <c:valAx>
        <c:axId val="126636800"/>
        <c:scaling>
          <c:orientation val="minMax"/>
        </c:scaling>
        <c:delete val="0"/>
        <c:axPos val="b"/>
        <c:numFmt formatCode="General" sourceLinked="1"/>
        <c:majorTickMark val="out"/>
        <c:minorTickMark val="none"/>
        <c:tickLblPos val="nextTo"/>
        <c:txPr>
          <a:bodyPr/>
          <a:lstStyle/>
          <a:p>
            <a:pPr>
              <a:defRPr sz="700"/>
            </a:pPr>
            <a:endParaRPr lang="en-US"/>
          </a:p>
        </c:txPr>
        <c:crossAx val="126635008"/>
        <c:crosses val="autoZero"/>
        <c:crossBetween val="between"/>
      </c:valAx>
    </c:plotArea>
    <c:legend>
      <c:legendPos val="b"/>
      <c:layout/>
      <c:overlay val="0"/>
      <c:txPr>
        <a:bodyPr/>
        <a:lstStyle/>
        <a:p>
          <a:pPr>
            <a:defRPr sz="650"/>
          </a:pPr>
          <a:endParaRPr lang="en-US"/>
        </a:p>
      </c:txPr>
    </c:legend>
    <c:plotVisOnly val="1"/>
    <c:dispBlanksAs val="gap"/>
    <c:showDLblsOverMax val="1"/>
  </c:chart>
  <c:txPr>
    <a:bodyPr/>
    <a:lstStyle/>
    <a:p>
      <a:pPr>
        <a:defRPr sz="750">
          <a:latin typeface="Yu Gothic"/>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radarChart>
        <c:radarStyle val="marker"/>
        <c:varyColors val="0"/>
        <c:ser>
          <c:idx val="0"/>
          <c:order val="0"/>
          <c:tx>
            <c:strRef>
              <c:f>Sheet1!$B$1</c:f>
              <c:strCache>
                <c:ptCount val="1"/>
                <c:pt idx="0">
                  <c:v>OpenAI</c:v>
                </c:pt>
              </c:strCache>
            </c:strRef>
          </c:tx>
          <c:spPr>
            <a:ln w="19050">
              <a:solidFill>
                <a:srgbClr val="548235"/>
              </a:solidFill>
            </a:ln>
          </c:spPr>
          <c:cat>
            <c:strRef>
              <c:f>Sheet1!$A$2:$A$6</c:f>
              <c:strCache>
                <c:ptCount val="5"/>
                <c:pt idx="0">
                  <c:v>必須/NULL
チェック</c:v>
                </c:pt>
                <c:pt idx="1">
                  <c:v>桁数境界値</c:v>
                </c:pt>
                <c:pt idx="2">
                  <c:v>文字種
チェック</c:v>
                </c:pt>
                <c:pt idx="3">
                  <c:v>エラー
ハンドリング</c:v>
                </c:pt>
                <c:pt idx="4">
                  <c:v>アカウント
ロック</c:v>
                </c:pt>
              </c:strCache>
            </c:strRef>
          </c:cat>
          <c:val>
            <c:numRef>
              <c:f>Sheet1!$B$2:$B$6</c:f>
              <c:numCache>
                <c:formatCode>General</c:formatCode>
                <c:ptCount val="5"/>
                <c:pt idx="0">
                  <c:v>5</c:v>
                </c:pt>
                <c:pt idx="1">
                  <c:v>5</c:v>
                </c:pt>
                <c:pt idx="2">
                  <c:v>5</c:v>
                </c:pt>
                <c:pt idx="3">
                  <c:v>4</c:v>
                </c:pt>
                <c:pt idx="4">
                  <c:v>5</c:v>
                </c:pt>
              </c:numCache>
            </c:numRef>
          </c:val>
        </c:ser>
        <c:ser>
          <c:idx val="1"/>
          <c:order val="1"/>
          <c:tx>
            <c:strRef>
              <c:f>Sheet1!$C$1</c:f>
              <c:strCache>
                <c:ptCount val="1"/>
                <c:pt idx="0">
                  <c:v>GitHub Copilot</c:v>
                </c:pt>
              </c:strCache>
            </c:strRef>
          </c:tx>
          <c:spPr>
            <a:ln w="19050">
              <a:solidFill>
                <a:srgbClr val="2E75B6"/>
              </a:solidFill>
            </a:ln>
          </c:spPr>
          <c:cat>
            <c:strRef>
              <c:f>Sheet1!$A$2:$A$6</c:f>
              <c:strCache>
                <c:ptCount val="5"/>
                <c:pt idx="0">
                  <c:v>必須/NULL
チェック</c:v>
                </c:pt>
                <c:pt idx="1">
                  <c:v>桁数境界値</c:v>
                </c:pt>
                <c:pt idx="2">
                  <c:v>文字種
チェック</c:v>
                </c:pt>
                <c:pt idx="3">
                  <c:v>エラー
ハンドリング</c:v>
                </c:pt>
                <c:pt idx="4">
                  <c:v>アカウント
ロック</c:v>
                </c:pt>
              </c:strCache>
            </c:strRef>
          </c:cat>
          <c:val>
            <c:numRef>
              <c:f>Sheet1!$C$2:$C$6</c:f>
              <c:numCache>
                <c:formatCode>General</c:formatCode>
                <c:ptCount val="5"/>
                <c:pt idx="0">
                  <c:v>1.25</c:v>
                </c:pt>
                <c:pt idx="1">
                  <c:v>0</c:v>
                </c:pt>
                <c:pt idx="2">
                  <c:v>0</c:v>
                </c:pt>
                <c:pt idx="3">
                  <c:v>1.5</c:v>
                </c:pt>
                <c:pt idx="4">
                  <c:v>0</c:v>
                </c:pt>
              </c:numCache>
            </c:numRef>
          </c:val>
        </c:ser>
        <c:dLbls>
          <c:showLegendKey val="0"/>
          <c:showVal val="0"/>
          <c:showCatName val="0"/>
          <c:showSerName val="0"/>
          <c:showPercent val="0"/>
          <c:showBubbleSize val="0"/>
        </c:dLbls>
        <c:axId val="126694528"/>
        <c:axId val="126696064"/>
      </c:radarChart>
      <c:catAx>
        <c:axId val="126694528"/>
        <c:scaling>
          <c:orientation val="minMax"/>
        </c:scaling>
        <c:delete val="0"/>
        <c:axPos val="b"/>
        <c:majorGridlines/>
        <c:numFmt formatCode="m/d/yy" sourceLinked="1"/>
        <c:majorTickMark val="out"/>
        <c:minorTickMark val="none"/>
        <c:tickLblPos val="nextTo"/>
        <c:txPr>
          <a:bodyPr/>
          <a:lstStyle/>
          <a:p>
            <a:pPr>
              <a:defRPr sz="650"/>
            </a:pPr>
            <a:endParaRPr lang="en-US"/>
          </a:p>
        </c:txPr>
        <c:crossAx val="126696064"/>
        <c:crosses val="autoZero"/>
        <c:auto val="1"/>
        <c:lblAlgn val="ctr"/>
        <c:lblOffset val="100"/>
        <c:noMultiLvlLbl val="0"/>
      </c:catAx>
      <c:valAx>
        <c:axId val="126696064"/>
        <c:scaling>
          <c:orientation val="minMax"/>
          <c:max val="5"/>
          <c:min val="0"/>
        </c:scaling>
        <c:delete val="0"/>
        <c:axPos val="l"/>
        <c:majorGridlines/>
        <c:numFmt formatCode="General" sourceLinked="1"/>
        <c:majorTickMark val="cross"/>
        <c:minorTickMark val="none"/>
        <c:tickLblPos val="nextTo"/>
        <c:txPr>
          <a:bodyPr/>
          <a:lstStyle/>
          <a:p>
            <a:pPr>
              <a:defRPr sz="600"/>
            </a:pPr>
            <a:endParaRPr lang="en-US"/>
          </a:p>
        </c:txPr>
        <c:crossAx val="126694528"/>
        <c:crosses val="autoZero"/>
        <c:crossBetween val="between"/>
      </c:valAx>
    </c:plotArea>
    <c:legend>
      <c:legendPos val="r"/>
      <c:layout/>
      <c:overlay val="0"/>
      <c:txPr>
        <a:bodyPr/>
        <a:lstStyle/>
        <a:p>
          <a:pPr>
            <a:defRPr sz="650"/>
          </a:pPr>
          <a:endParaRPr lang="en-US"/>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E4B8D0-189C-4312-855D-E941DBA155EE}" type="datetimeFigureOut">
              <a:rPr lang="en-US" smtClean="0"/>
              <a:t>7/7/2026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23C0F7-11CA-4091-94CC-E1C60E21E3B7}" type="slidenum">
              <a:rPr lang="en-US" smtClean="0"/>
              <a:t>‹#›</a:t>
            </a:fld>
            <a:endParaRPr lang="en-US"/>
          </a:p>
        </p:txBody>
      </p:sp>
    </p:spTree>
    <p:extLst>
      <p:ext uri="{BB962C8B-B14F-4D97-AF65-F5344CB8AC3E}">
        <p14:creationId xmlns:p14="http://schemas.microsoft.com/office/powerpoint/2010/main" val="2742286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C23C0F7-11CA-4091-94CC-E1C60E21E3B7}" type="slidenum">
              <a:rPr lang="en-US" smtClean="0"/>
              <a:t>5</a:t>
            </a:fld>
            <a:endParaRPr lang="en-US"/>
          </a:p>
        </p:txBody>
      </p:sp>
    </p:spTree>
    <p:extLst>
      <p:ext uri="{BB962C8B-B14F-4D97-AF65-F5344CB8AC3E}">
        <p14:creationId xmlns:p14="http://schemas.microsoft.com/office/powerpoint/2010/main" val="28927705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7/6/2026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7/6/2026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dat_logo.jpeg"/>
          <p:cNvPicPr>
            <a:picLocks noChangeAspect="1"/>
          </p:cNvPicPr>
          <p:nvPr/>
        </p:nvPicPr>
        <p:blipFill>
          <a:blip r:embed="rId2"/>
          <a:stretch>
            <a:fillRect/>
          </a:stretch>
        </p:blipFill>
        <p:spPr>
          <a:xfrm>
            <a:off x="640080" y="2331720"/>
            <a:ext cx="1562493" cy="777240"/>
          </a:xfrm>
          <a:prstGeom prst="rect">
            <a:avLst/>
          </a:prstGeom>
        </p:spPr>
      </p:pic>
      <p:sp>
        <p:nvSpPr>
          <p:cNvPr id="4" name="TextBox 3"/>
          <p:cNvSpPr txBox="1"/>
          <p:nvPr/>
        </p:nvSpPr>
        <p:spPr>
          <a:xfrm>
            <a:off x="2514600" y="2395728"/>
            <a:ext cx="9052560" cy="685800"/>
          </a:xfrm>
          <a:prstGeom prst="rect">
            <a:avLst/>
          </a:prstGeom>
          <a:noFill/>
        </p:spPr>
        <p:txBody>
          <a:bodyPr wrap="square" lIns="0" tIns="0" rIns="0" bIns="0" anchor="t">
            <a:spAutoFit/>
          </a:bodyPr>
          <a:lstStyle/>
          <a:p>
            <a:pPr algn="l">
              <a:lnSpc>
                <a:spcPct val="100000"/>
              </a:lnSpc>
            </a:pPr>
            <a:r>
              <a:rPr sz="2700" b="1" i="0">
                <a:solidFill>
                  <a:srgbClr val="212121"/>
                </a:solidFill>
                <a:latin typeface="Yu Gothic"/>
              </a:rPr>
              <a:t>AI活用検証結果レポート（テストケース生成ツール）</a:t>
            </a:r>
          </a:p>
        </p:txBody>
      </p:sp>
      <p:sp>
        <p:nvSpPr>
          <p:cNvPr id="5" name="Rectangle 4"/>
          <p:cNvSpPr/>
          <p:nvPr/>
        </p:nvSpPr>
        <p:spPr>
          <a:xfrm>
            <a:off x="640080" y="3246120"/>
            <a:ext cx="10908792" cy="41148"/>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3520440"/>
            <a:ext cx="10908792" cy="261610"/>
          </a:xfrm>
          <a:prstGeom prst="rect">
            <a:avLst/>
          </a:prstGeom>
          <a:noFill/>
        </p:spPr>
        <p:txBody>
          <a:bodyPr wrap="square" lIns="0" tIns="0" rIns="0" bIns="0" anchor="t">
            <a:spAutoFit/>
          </a:bodyPr>
          <a:lstStyle/>
          <a:p>
            <a:pPr algn="ctr">
              <a:lnSpc>
                <a:spcPct val="100000"/>
              </a:lnSpc>
            </a:pPr>
            <a:r>
              <a:rPr sz="1700" b="1" i="0" dirty="0" err="1">
                <a:solidFill>
                  <a:srgbClr val="212121"/>
                </a:solidFill>
                <a:latin typeface="Yu Gothic"/>
              </a:rPr>
              <a:t>OpenAI版</a:t>
            </a:r>
            <a:r>
              <a:rPr sz="1700" b="1" i="0" dirty="0">
                <a:solidFill>
                  <a:srgbClr val="212121"/>
                </a:solidFill>
                <a:latin typeface="Yu Gothic"/>
              </a:rPr>
              <a:t> </a:t>
            </a:r>
            <a:r>
              <a:rPr sz="1700" b="1" i="0" dirty="0" err="1">
                <a:solidFill>
                  <a:srgbClr val="212121"/>
                </a:solidFill>
                <a:latin typeface="Yu Gothic"/>
              </a:rPr>
              <a:t>vs</a:t>
            </a:r>
            <a:r>
              <a:rPr sz="1700" b="1" i="0" dirty="0">
                <a:solidFill>
                  <a:srgbClr val="212121"/>
                </a:solidFill>
                <a:latin typeface="Yu Gothic"/>
              </a:rPr>
              <a:t> GitHub </a:t>
            </a:r>
            <a:r>
              <a:rPr sz="1700" b="1" i="0" dirty="0" err="1">
                <a:solidFill>
                  <a:srgbClr val="212121"/>
                </a:solidFill>
                <a:latin typeface="Yu Gothic"/>
              </a:rPr>
              <a:t>Copilot版</a:t>
            </a:r>
            <a:r>
              <a:rPr sz="1700" b="1" i="0" dirty="0">
                <a:solidFill>
                  <a:srgbClr val="212121"/>
                </a:solidFill>
                <a:latin typeface="Yu Gothic"/>
              </a:rPr>
              <a:t> － </a:t>
            </a:r>
            <a:r>
              <a:rPr sz="1700" b="1" i="0" dirty="0" err="1">
                <a:solidFill>
                  <a:srgbClr val="212121"/>
                </a:solidFill>
                <a:latin typeface="Yu Gothic"/>
              </a:rPr>
              <a:t>ログイン機能</a:t>
            </a:r>
            <a:r>
              <a:rPr sz="1700" b="1" i="0" dirty="0" smtClean="0">
                <a:solidFill>
                  <a:srgbClr val="212121"/>
                </a:solidFill>
                <a:latin typeface="Yu Gothic"/>
              </a:rPr>
              <a:t>（</a:t>
            </a:r>
            <a:r>
              <a:rPr lang="ja-JP" altLang="en-US" sz="1700" b="1" i="0" dirty="0" smtClean="0">
                <a:solidFill>
                  <a:srgbClr val="212121"/>
                </a:solidFill>
                <a:latin typeface="Yu Gothic"/>
              </a:rPr>
              <a:t>サンプル</a:t>
            </a:r>
            <a:r>
              <a:rPr sz="1700" b="1" i="0" dirty="0" smtClean="0">
                <a:solidFill>
                  <a:srgbClr val="212121"/>
                </a:solidFill>
                <a:latin typeface="Yu Gothic"/>
              </a:rPr>
              <a:t>）</a:t>
            </a:r>
            <a:r>
              <a:rPr sz="1700" b="1" i="0" dirty="0">
                <a:solidFill>
                  <a:srgbClr val="212121"/>
                </a:solidFill>
                <a:latin typeface="Yu Gothic"/>
              </a:rPr>
              <a:t>結合テストケース生成</a:t>
            </a:r>
          </a:p>
        </p:txBody>
      </p:sp>
      <p:sp>
        <p:nvSpPr>
          <p:cNvPr id="7" name="TextBox 6"/>
          <p:cNvSpPr txBox="1"/>
          <p:nvPr/>
        </p:nvSpPr>
        <p:spPr>
          <a:xfrm>
            <a:off x="640080" y="3977639"/>
            <a:ext cx="10908792" cy="200055"/>
          </a:xfrm>
          <a:prstGeom prst="rect">
            <a:avLst/>
          </a:prstGeom>
          <a:noFill/>
        </p:spPr>
        <p:txBody>
          <a:bodyPr wrap="square" lIns="0" tIns="0" rIns="0" bIns="0" anchor="t">
            <a:spAutoFit/>
          </a:bodyPr>
          <a:lstStyle/>
          <a:p>
            <a:pPr algn="ctr">
              <a:lnSpc>
                <a:spcPct val="100000"/>
              </a:lnSpc>
            </a:pPr>
            <a:r>
              <a:rPr sz="1300" b="0" i="0" dirty="0">
                <a:solidFill>
                  <a:srgbClr val="595959"/>
                </a:solidFill>
                <a:latin typeface="Yu Gothic"/>
              </a:rPr>
              <a:t>DAT-SONAR-FR </a:t>
            </a:r>
            <a:r>
              <a:rPr sz="1300" b="0" i="0" dirty="0" err="1" smtClean="0">
                <a:solidFill>
                  <a:srgbClr val="595959"/>
                </a:solidFill>
                <a:latin typeface="Yu Gothic"/>
              </a:rPr>
              <a:t>チーム</a:t>
            </a:r>
            <a:r>
              <a:rPr sz="1300" b="0" i="0" dirty="0">
                <a:solidFill>
                  <a:srgbClr val="595959"/>
                </a:solidFill>
                <a:latin typeface="Yu Gothic"/>
              </a:rPr>
              <a:t>　2026年7月</a:t>
            </a:r>
          </a:p>
        </p:txBody>
      </p:sp>
      <p:sp>
        <p:nvSpPr>
          <p:cNvPr id="8" name="TextBox 7"/>
          <p:cNvSpPr txBox="1"/>
          <p:nvPr/>
        </p:nvSpPr>
        <p:spPr>
          <a:xfrm>
            <a:off x="10241280" y="6446520"/>
            <a:ext cx="1737360" cy="320040"/>
          </a:xfrm>
          <a:prstGeom prst="rect">
            <a:avLst/>
          </a:prstGeom>
          <a:noFill/>
        </p:spPr>
        <p:txBody>
          <a:bodyPr wrap="square" lIns="0" tIns="0" rIns="0" bIns="0" anchor="t">
            <a:spAutoFit/>
          </a:bodyPr>
          <a:lstStyle/>
          <a:p>
            <a:pPr algn="r">
              <a:lnSpc>
                <a:spcPct val="100000"/>
              </a:lnSpc>
            </a:pPr>
            <a:r>
              <a:rPr sz="1100" b="0" i="0">
                <a:solidFill>
                  <a:srgbClr val="808080"/>
                </a:solidFill>
                <a:latin typeface="Yu Gothic"/>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64592"/>
            <a:ext cx="9692640" cy="365760"/>
          </a:xfrm>
          <a:prstGeom prst="rect">
            <a:avLst/>
          </a:prstGeom>
          <a:noFill/>
        </p:spPr>
        <p:txBody>
          <a:bodyPr wrap="square" lIns="0" tIns="0" rIns="0" bIns="0" anchor="t">
            <a:spAutoFit/>
          </a:bodyPr>
          <a:lstStyle/>
          <a:p>
            <a:pPr algn="l">
              <a:lnSpc>
                <a:spcPct val="100000"/>
              </a:lnSpc>
            </a:pPr>
            <a:r>
              <a:rPr sz="1700" b="1" i="0">
                <a:solidFill>
                  <a:srgbClr val="212121"/>
                </a:solidFill>
                <a:latin typeface="Yu Gothic"/>
              </a:rPr>
              <a:t>AI活用検証結果レポート（テストケース生成ツール）</a:t>
            </a:r>
          </a:p>
        </p:txBody>
      </p:sp>
      <p:pic>
        <p:nvPicPr>
          <p:cNvPr id="4" name="Picture 3" descr="dat_logo.jpeg"/>
          <p:cNvPicPr>
            <a:picLocks noChangeAspect="1"/>
          </p:cNvPicPr>
          <p:nvPr/>
        </p:nvPicPr>
        <p:blipFill>
          <a:blip r:embed="rId2"/>
          <a:stretch>
            <a:fillRect/>
          </a:stretch>
        </p:blipFill>
        <p:spPr>
          <a:xfrm>
            <a:off x="10881360" y="128016"/>
            <a:ext cx="845584" cy="420624"/>
          </a:xfrm>
          <a:prstGeom prst="rect">
            <a:avLst/>
          </a:prstGeom>
        </p:spPr>
      </p:pic>
      <p:sp>
        <p:nvSpPr>
          <p:cNvPr id="5" name="Rectangle 4"/>
          <p:cNvSpPr/>
          <p:nvPr/>
        </p:nvSpPr>
        <p:spPr>
          <a:xfrm>
            <a:off x="274320" y="603504"/>
            <a:ext cx="11640312" cy="27432"/>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38560" y="6492240"/>
            <a:ext cx="548640" cy="274320"/>
          </a:xfrm>
          <a:prstGeom prst="rect">
            <a:avLst/>
          </a:prstGeom>
          <a:noFill/>
        </p:spPr>
        <p:txBody>
          <a:bodyPr wrap="square" lIns="0" tIns="0" rIns="0" bIns="0" anchor="t">
            <a:spAutoFit/>
          </a:bodyPr>
          <a:lstStyle/>
          <a:p>
            <a:pPr algn="r">
              <a:lnSpc>
                <a:spcPct val="100000"/>
              </a:lnSpc>
            </a:pPr>
            <a:r>
              <a:rPr sz="1050" b="0" i="0">
                <a:solidFill>
                  <a:srgbClr val="808080"/>
                </a:solidFill>
                <a:latin typeface="Yu Gothic"/>
              </a:rPr>
              <a:t>2</a:t>
            </a:r>
          </a:p>
        </p:txBody>
      </p:sp>
      <p:sp>
        <p:nvSpPr>
          <p:cNvPr id="7" name="TextBox 6"/>
          <p:cNvSpPr txBox="1"/>
          <p:nvPr/>
        </p:nvSpPr>
        <p:spPr>
          <a:xfrm>
            <a:off x="274320" y="640080"/>
            <a:ext cx="8686800" cy="219456"/>
          </a:xfrm>
          <a:prstGeom prst="rect">
            <a:avLst/>
          </a:prstGeom>
          <a:noFill/>
        </p:spPr>
        <p:txBody>
          <a:bodyPr wrap="square" lIns="0" tIns="0" rIns="0" bIns="0" anchor="t">
            <a:spAutoFit/>
          </a:bodyPr>
          <a:lstStyle/>
          <a:p>
            <a:pPr algn="l">
              <a:lnSpc>
                <a:spcPct val="100000"/>
              </a:lnSpc>
            </a:pPr>
            <a:r>
              <a:rPr sz="950" b="0" i="0" dirty="0">
                <a:solidFill>
                  <a:srgbClr val="595959"/>
                </a:solidFill>
                <a:latin typeface="Yu Gothic"/>
              </a:rPr>
              <a:t>OpenAI（OpenAI-v2 Smart QA） </a:t>
            </a:r>
            <a:r>
              <a:rPr sz="950" b="0" i="0" dirty="0" err="1">
                <a:solidFill>
                  <a:srgbClr val="595959"/>
                </a:solidFill>
                <a:latin typeface="Yu Gothic"/>
              </a:rPr>
              <a:t>vs</a:t>
            </a:r>
            <a:r>
              <a:rPr sz="950" b="0" i="0" dirty="0">
                <a:solidFill>
                  <a:srgbClr val="595959"/>
                </a:solidFill>
                <a:latin typeface="Yu Gothic"/>
              </a:rPr>
              <a:t> GitHub </a:t>
            </a:r>
            <a:r>
              <a:rPr sz="950" b="0" i="0" dirty="0" err="1">
                <a:solidFill>
                  <a:srgbClr val="595959"/>
                </a:solidFill>
                <a:latin typeface="Yu Gothic"/>
              </a:rPr>
              <a:t>Copilot（Copilot</a:t>
            </a:r>
            <a:r>
              <a:rPr sz="950" b="0" i="0" dirty="0">
                <a:solidFill>
                  <a:srgbClr val="595959"/>
                </a:solidFill>
                <a:latin typeface="Yu Gothic"/>
              </a:rPr>
              <a:t> Bridge Auto）／対象機能：LOGIN-001（ログイン機能）</a:t>
            </a:r>
          </a:p>
        </p:txBody>
      </p:sp>
      <p:sp>
        <p:nvSpPr>
          <p:cNvPr id="8" name="TextBox 7"/>
          <p:cNvSpPr txBox="1"/>
          <p:nvPr/>
        </p:nvSpPr>
        <p:spPr>
          <a:xfrm>
            <a:off x="9052560" y="640080"/>
            <a:ext cx="2834640" cy="219456"/>
          </a:xfrm>
          <a:prstGeom prst="rect">
            <a:avLst/>
          </a:prstGeom>
          <a:noFill/>
        </p:spPr>
        <p:txBody>
          <a:bodyPr wrap="square" lIns="0" tIns="0" rIns="0" bIns="0" anchor="t">
            <a:spAutoFit/>
          </a:bodyPr>
          <a:lstStyle/>
          <a:p>
            <a:pPr algn="r">
              <a:lnSpc>
                <a:spcPct val="100000"/>
              </a:lnSpc>
            </a:pPr>
            <a:r>
              <a:rPr sz="900" b="0" i="0">
                <a:solidFill>
                  <a:srgbClr val="595959"/>
                </a:solidFill>
                <a:latin typeface="Yu Gothic"/>
              </a:rPr>
              <a:t>検証期間：2026/7/3〜2026/7/6</a:t>
            </a:r>
          </a:p>
        </p:txBody>
      </p:sp>
      <p:sp>
        <p:nvSpPr>
          <p:cNvPr id="9" name="Rounded Rectangle 8"/>
          <p:cNvSpPr/>
          <p:nvPr/>
        </p:nvSpPr>
        <p:spPr>
          <a:xfrm>
            <a:off x="274320" y="817296"/>
            <a:ext cx="5623560" cy="65836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872160"/>
            <a:ext cx="822960" cy="237744"/>
          </a:xfrm>
          <a:prstGeom prst="rect">
            <a:avLst/>
          </a:prstGeom>
          <a:noFill/>
        </p:spPr>
        <p:txBody>
          <a:bodyPr wrap="square" lIns="0" tIns="0" rIns="0" bIns="0" anchor="t">
            <a:spAutoFit/>
          </a:bodyPr>
          <a:lstStyle/>
          <a:p>
            <a:pPr algn="l">
              <a:lnSpc>
                <a:spcPct val="100000"/>
              </a:lnSpc>
            </a:pPr>
            <a:r>
              <a:rPr sz="1150" b="1" i="0">
                <a:solidFill>
                  <a:srgbClr val="1F3864"/>
                </a:solidFill>
                <a:latin typeface="Yu Gothic"/>
              </a:rPr>
              <a:t>目的</a:t>
            </a:r>
          </a:p>
        </p:txBody>
      </p:sp>
      <p:sp>
        <p:nvSpPr>
          <p:cNvPr id="11" name="TextBox 10"/>
          <p:cNvSpPr txBox="1"/>
          <p:nvPr/>
        </p:nvSpPr>
        <p:spPr>
          <a:xfrm>
            <a:off x="457200" y="1091616"/>
            <a:ext cx="5303520" cy="365760"/>
          </a:xfrm>
          <a:prstGeom prst="rect">
            <a:avLst/>
          </a:prstGeom>
          <a:noFill/>
        </p:spPr>
        <p:txBody>
          <a:bodyPr wrap="square" lIns="0" tIns="0" rIns="0" bIns="0" anchor="t">
            <a:spAutoFit/>
          </a:bodyPr>
          <a:lstStyle/>
          <a:p>
            <a:pPr algn="l">
              <a:lnSpc>
                <a:spcPct val="100000"/>
              </a:lnSpc>
            </a:pPr>
            <a:r>
              <a:rPr sz="880" b="0" i="0" dirty="0" err="1">
                <a:solidFill>
                  <a:srgbClr val="212121"/>
                </a:solidFill>
                <a:latin typeface="Yu Gothic"/>
              </a:rPr>
              <a:t>設計書のみを根拠とした独自基準でAIツールのテストケース生成能力を定量比較し、QA標準ツールとして最適なAIを選定する</a:t>
            </a:r>
            <a:r>
              <a:rPr sz="880" b="0" i="0" dirty="0">
                <a:solidFill>
                  <a:srgbClr val="212121"/>
                </a:solidFill>
                <a:latin typeface="Yu Gothic"/>
              </a:rPr>
              <a:t>。</a:t>
            </a:r>
          </a:p>
        </p:txBody>
      </p:sp>
      <p:sp>
        <p:nvSpPr>
          <p:cNvPr id="12" name="Rounded Rectangle 11"/>
          <p:cNvSpPr/>
          <p:nvPr/>
        </p:nvSpPr>
        <p:spPr>
          <a:xfrm>
            <a:off x="6035040" y="817296"/>
            <a:ext cx="5897880" cy="658368"/>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17920" y="872160"/>
            <a:ext cx="1097280" cy="237744"/>
          </a:xfrm>
          <a:prstGeom prst="rect">
            <a:avLst/>
          </a:prstGeom>
          <a:noFill/>
        </p:spPr>
        <p:txBody>
          <a:bodyPr wrap="square" lIns="0" tIns="0" rIns="0" bIns="0" anchor="t">
            <a:spAutoFit/>
          </a:bodyPr>
          <a:lstStyle/>
          <a:p>
            <a:pPr algn="l">
              <a:lnSpc>
                <a:spcPct val="100000"/>
              </a:lnSpc>
            </a:pPr>
            <a:r>
              <a:rPr sz="1150" b="1" i="0">
                <a:solidFill>
                  <a:srgbClr val="1F3864"/>
                </a:solidFill>
                <a:latin typeface="Yu Gothic"/>
              </a:rPr>
              <a:t>検証方法</a:t>
            </a:r>
          </a:p>
        </p:txBody>
      </p:sp>
      <p:sp>
        <p:nvSpPr>
          <p:cNvPr id="14" name="TextBox 13"/>
          <p:cNvSpPr txBox="1"/>
          <p:nvPr/>
        </p:nvSpPr>
        <p:spPr>
          <a:xfrm>
            <a:off x="6217920" y="1091616"/>
            <a:ext cx="5577840" cy="255455"/>
          </a:xfrm>
          <a:prstGeom prst="rect">
            <a:avLst/>
          </a:prstGeom>
          <a:noFill/>
        </p:spPr>
        <p:txBody>
          <a:bodyPr wrap="square" lIns="0" tIns="0" rIns="0" bIns="0" anchor="t">
            <a:spAutoFit/>
          </a:bodyPr>
          <a:lstStyle/>
          <a:p>
            <a:pPr algn="l">
              <a:lnSpc>
                <a:spcPct val="100000"/>
              </a:lnSpc>
            </a:pPr>
            <a:r>
              <a:rPr sz="830" b="0" i="0" dirty="0">
                <a:solidFill>
                  <a:srgbClr val="212121"/>
                </a:solidFill>
                <a:latin typeface="Yu Gothic"/>
              </a:rPr>
              <a:t>・</a:t>
            </a:r>
            <a:r>
              <a:rPr sz="830" b="0" i="0" dirty="0">
                <a:solidFill>
                  <a:srgbClr val="212121"/>
                </a:solidFill>
                <a:latin typeface="Yu Gothic" pitchFamily="34" charset="-128"/>
                <a:ea typeface="Yu Gothic" pitchFamily="34" charset="-128"/>
              </a:rPr>
              <a:t>同一の基本設計書・詳細設計書を基にテストケースを生成／設計書のみから抽出した21項目チェックリストで評価</a:t>
            </a:r>
          </a:p>
          <a:p>
            <a:r>
              <a:rPr sz="830" b="0" i="0" dirty="0">
                <a:solidFill>
                  <a:srgbClr val="212121"/>
                </a:solidFill>
                <a:latin typeface="Yu Gothic" pitchFamily="34" charset="-128"/>
                <a:ea typeface="Yu Gothic" pitchFamily="34" charset="-128"/>
              </a:rPr>
              <a:t>・</a:t>
            </a:r>
            <a:r>
              <a:rPr sz="830" b="0" i="0" dirty="0" err="1" smtClean="0">
                <a:solidFill>
                  <a:srgbClr val="212121"/>
                </a:solidFill>
                <a:latin typeface="Yu Gothic" pitchFamily="34" charset="-128"/>
                <a:ea typeface="Yu Gothic" pitchFamily="34" charset="-128"/>
              </a:rPr>
              <a:t>ツール自己申告の</a:t>
            </a:r>
            <a:r>
              <a:rPr lang="ja-JP" altLang="en-US" sz="830" dirty="0">
                <a:solidFill>
                  <a:srgbClr val="212121"/>
                </a:solidFill>
                <a:latin typeface="Yu Gothic" pitchFamily="34" charset="-128"/>
                <a:ea typeface="Yu Gothic" pitchFamily="34" charset="-128"/>
              </a:rPr>
              <a:t>カバレッ</a:t>
            </a:r>
            <a:r>
              <a:rPr lang="ja-JP" altLang="en-US" sz="830" dirty="0" smtClean="0">
                <a:solidFill>
                  <a:srgbClr val="212121"/>
                </a:solidFill>
                <a:latin typeface="Yu Gothic" pitchFamily="34" charset="-128"/>
                <a:ea typeface="Yu Gothic" pitchFamily="34" charset="-128"/>
              </a:rPr>
              <a:t>ジレポート</a:t>
            </a:r>
            <a:r>
              <a:rPr sz="830" b="0" i="0" dirty="0" err="1" smtClean="0">
                <a:solidFill>
                  <a:srgbClr val="212121"/>
                </a:solidFill>
                <a:latin typeface="Yu Gothic" pitchFamily="34" charset="-128"/>
                <a:ea typeface="Yu Gothic" pitchFamily="34" charset="-128"/>
              </a:rPr>
              <a:t>との乖離も比較</a:t>
            </a:r>
            <a:endParaRPr sz="830" b="0" i="0" dirty="0">
              <a:solidFill>
                <a:srgbClr val="212121"/>
              </a:solidFill>
              <a:latin typeface="Yu Gothic" pitchFamily="34" charset="-128"/>
              <a:ea typeface="Yu Gothic" pitchFamily="34" charset="-128"/>
            </a:endParaRPr>
          </a:p>
        </p:txBody>
      </p:sp>
      <p:graphicFrame>
        <p:nvGraphicFramePr>
          <p:cNvPr id="15" name="Table 14"/>
          <p:cNvGraphicFramePr>
            <a:graphicFrameLocks noGrp="1"/>
          </p:cNvGraphicFramePr>
          <p:nvPr>
            <p:extLst>
              <p:ext uri="{D42A27DB-BD31-4B8C-83A1-F6EECF244321}">
                <p14:modId xmlns:p14="http://schemas.microsoft.com/office/powerpoint/2010/main" val="2958693616"/>
              </p:ext>
            </p:extLst>
          </p:nvPr>
        </p:nvGraphicFramePr>
        <p:xfrm>
          <a:off x="274320" y="1553023"/>
          <a:ext cx="11658600" cy="1938528"/>
        </p:xfrm>
        <a:graphic>
          <a:graphicData uri="http://schemas.openxmlformats.org/drawingml/2006/table">
            <a:tbl>
              <a:tblPr firstRow="1" bandRow="1">
                <a:tableStyleId>{5C22544A-7EE6-4342-B048-85BDC9FD1C3A}</a:tableStyleId>
              </a:tblPr>
              <a:tblGrid>
                <a:gridCol w="2468880"/>
                <a:gridCol w="1965960"/>
                <a:gridCol w="1965960"/>
                <a:gridCol w="5257800"/>
              </a:tblGrid>
              <a:tr h="274320">
                <a:tc>
                  <a:txBody>
                    <a:bodyPr/>
                    <a:lstStyle/>
                    <a:p>
                      <a:pPr algn="ctr"/>
                      <a:r>
                        <a:rPr sz="1050" b="1" i="0" dirty="0" err="1">
                          <a:solidFill>
                            <a:srgbClr val="FFFFFF"/>
                          </a:solidFill>
                          <a:latin typeface="Yu Gothic"/>
                        </a:rPr>
                        <a:t>評価項目</a:t>
                      </a:r>
                      <a:endParaRPr sz="1050" b="1" i="0" dirty="0">
                        <a:solidFill>
                          <a:srgbClr val="FFFFFF"/>
                        </a:solidFill>
                        <a:latin typeface="Yu Gothic"/>
                      </a:endParaRPr>
                    </a:p>
                  </a:txBody>
                  <a:tcPr marL="50800" marR="50800" marT="25400" marB="25400" anchor="ctr">
                    <a:solidFill>
                      <a:srgbClr val="1F3864"/>
                    </a:solidFill>
                  </a:tcPr>
                </a:tc>
                <a:tc>
                  <a:txBody>
                    <a:bodyPr/>
                    <a:lstStyle/>
                    <a:p>
                      <a:pPr algn="ctr"/>
                      <a:r>
                        <a:rPr sz="1050" b="1" i="0" dirty="0" err="1">
                          <a:solidFill>
                            <a:srgbClr val="FFFFFF"/>
                          </a:solidFill>
                          <a:latin typeface="Yu Gothic"/>
                        </a:rPr>
                        <a:t>OpenAI版</a:t>
                      </a:r>
                      <a:endParaRPr sz="1050" b="1" i="0" dirty="0">
                        <a:solidFill>
                          <a:srgbClr val="FFFFFF"/>
                        </a:solidFill>
                        <a:latin typeface="Yu Gothic"/>
                      </a:endParaRPr>
                    </a:p>
                  </a:txBody>
                  <a:tcPr marL="50800" marR="50800" marT="25400" marB="25400" anchor="ctr">
                    <a:solidFill>
                      <a:srgbClr val="548235"/>
                    </a:solidFill>
                  </a:tcPr>
                </a:tc>
                <a:tc>
                  <a:txBody>
                    <a:bodyPr/>
                    <a:lstStyle/>
                    <a:p>
                      <a:pPr algn="ctr"/>
                      <a:r>
                        <a:rPr sz="1050" b="1" i="0" dirty="0">
                          <a:solidFill>
                            <a:srgbClr val="FFFFFF"/>
                          </a:solidFill>
                          <a:latin typeface="Yu Gothic"/>
                        </a:rPr>
                        <a:t>GitHub </a:t>
                      </a:r>
                      <a:r>
                        <a:rPr sz="1050" b="1" i="0" dirty="0" err="1">
                          <a:solidFill>
                            <a:srgbClr val="FFFFFF"/>
                          </a:solidFill>
                          <a:latin typeface="Yu Gothic"/>
                        </a:rPr>
                        <a:t>Copilot版</a:t>
                      </a:r>
                      <a:endParaRPr sz="1050" b="1" i="0" dirty="0">
                        <a:solidFill>
                          <a:srgbClr val="FFFFFF"/>
                        </a:solidFill>
                        <a:latin typeface="Yu Gothic"/>
                      </a:endParaRPr>
                    </a:p>
                  </a:txBody>
                  <a:tcPr marL="50800" marR="50800" marT="25400" marB="25400" anchor="ctr">
                    <a:solidFill>
                      <a:srgbClr val="2E75B6"/>
                    </a:solidFill>
                  </a:tcPr>
                </a:tc>
                <a:tc>
                  <a:txBody>
                    <a:bodyPr/>
                    <a:lstStyle/>
                    <a:p>
                      <a:pPr algn="l"/>
                      <a:r>
                        <a:rPr sz="1050" b="1" i="0" dirty="0" err="1">
                          <a:solidFill>
                            <a:srgbClr val="FFFFFF"/>
                          </a:solidFill>
                          <a:latin typeface="Yu Gothic"/>
                        </a:rPr>
                        <a:t>評価・コメント</a:t>
                      </a:r>
                      <a:endParaRPr sz="1050" b="1" i="0" dirty="0">
                        <a:solidFill>
                          <a:srgbClr val="FFFFFF"/>
                        </a:solidFill>
                        <a:latin typeface="Yu Gothic"/>
                      </a:endParaRPr>
                    </a:p>
                  </a:txBody>
                  <a:tcPr marL="50800" marR="50800" marT="25400" marB="25400" anchor="ctr">
                    <a:solidFill>
                      <a:srgbClr val="1F3864"/>
                    </a:solidFill>
                  </a:tcPr>
                </a:tc>
              </a:tr>
              <a:tr h="237744">
                <a:tc>
                  <a:txBody>
                    <a:bodyPr/>
                    <a:lstStyle/>
                    <a:p>
                      <a:pPr algn="l"/>
                      <a:r>
                        <a:rPr sz="900" b="1" i="0" dirty="0" err="1">
                          <a:solidFill>
                            <a:srgbClr val="212121"/>
                          </a:solidFill>
                          <a:latin typeface="Yu Gothic"/>
                        </a:rPr>
                        <a:t>生成テストケース数</a:t>
                      </a:r>
                      <a:endParaRPr sz="900" b="1" i="0" dirty="0">
                        <a:solidFill>
                          <a:srgbClr val="212121"/>
                        </a:solidFill>
                        <a:latin typeface="Yu Gothic"/>
                      </a:endParaRPr>
                    </a:p>
                  </a:txBody>
                  <a:tcPr marL="50800" marR="50800" marT="25400" marB="25400" anchor="ctr">
                    <a:solidFill>
                      <a:srgbClr val="FFFFFF"/>
                    </a:solidFill>
                  </a:tcPr>
                </a:tc>
                <a:tc>
                  <a:txBody>
                    <a:bodyPr/>
                    <a:lstStyle/>
                    <a:p>
                      <a:pPr algn="ctr"/>
                      <a:r>
                        <a:rPr sz="900" b="0" i="0">
                          <a:solidFill>
                            <a:srgbClr val="212121"/>
                          </a:solidFill>
                          <a:latin typeface="Yu Gothic"/>
                        </a:rPr>
                        <a:t>18件</a:t>
                      </a:r>
                    </a:p>
                  </a:txBody>
                  <a:tcPr marL="50800" marR="50800" marT="25400" marB="25400" anchor="ctr">
                    <a:solidFill>
                      <a:srgbClr val="FFFFFF"/>
                    </a:solidFill>
                  </a:tcPr>
                </a:tc>
                <a:tc>
                  <a:txBody>
                    <a:bodyPr/>
                    <a:lstStyle/>
                    <a:p>
                      <a:pPr algn="ctr"/>
                      <a:r>
                        <a:rPr sz="900" b="0" i="0">
                          <a:solidFill>
                            <a:srgbClr val="212121"/>
                          </a:solidFill>
                          <a:latin typeface="Yu Gothic"/>
                        </a:rPr>
                        <a:t>24件</a:t>
                      </a:r>
                    </a:p>
                  </a:txBody>
                  <a:tcPr marL="50800" marR="50800" marT="25400" marB="25400" anchor="ctr">
                    <a:solidFill>
                      <a:srgbClr val="FFFFFF"/>
                    </a:solidFill>
                  </a:tcPr>
                </a:tc>
                <a:tc>
                  <a:txBody>
                    <a:bodyPr/>
                    <a:lstStyle/>
                    <a:p>
                      <a:pPr algn="l"/>
                      <a:r>
                        <a:rPr sz="900" b="0" i="0" dirty="0" err="1">
                          <a:solidFill>
                            <a:srgbClr val="212121"/>
                          </a:solidFill>
                          <a:latin typeface="Yu Gothic"/>
                        </a:rPr>
                        <a:t>件数はCopilot版が多いが、内容の具体性はOpenAI版が優位</a:t>
                      </a:r>
                      <a:r>
                        <a:rPr sz="900" b="0" i="0" dirty="0">
                          <a:solidFill>
                            <a:srgbClr val="212121"/>
                          </a:solidFill>
                          <a:latin typeface="Yu Gothic"/>
                        </a:rPr>
                        <a:t>。</a:t>
                      </a:r>
                    </a:p>
                  </a:txBody>
                  <a:tcPr marL="50800" marR="50800" marT="25400" marB="25400" anchor="ctr">
                    <a:solidFill>
                      <a:srgbClr val="FFFFFF"/>
                    </a:solidFill>
                  </a:tcPr>
                </a:tc>
              </a:tr>
              <a:tr h="237744">
                <a:tc>
                  <a:txBody>
                    <a:bodyPr/>
                    <a:lstStyle/>
                    <a:p>
                      <a:pPr algn="l"/>
                      <a:r>
                        <a:rPr sz="900" b="1" i="0">
                          <a:solidFill>
                            <a:srgbClr val="212121"/>
                          </a:solidFill>
                          <a:latin typeface="Yu Gothic"/>
                        </a:rPr>
                        <a:t>ツール自己申告カバレッジ</a:t>
                      </a:r>
                    </a:p>
                  </a:txBody>
                  <a:tcPr marL="50800" marR="50800" marT="25400" marB="25400" anchor="ctr">
                    <a:solidFill>
                      <a:srgbClr val="F4F7FB"/>
                    </a:solidFill>
                  </a:tcPr>
                </a:tc>
                <a:tc>
                  <a:txBody>
                    <a:bodyPr/>
                    <a:lstStyle/>
                    <a:p>
                      <a:pPr algn="ctr"/>
                      <a:r>
                        <a:rPr sz="900" b="0" i="0">
                          <a:solidFill>
                            <a:srgbClr val="212121"/>
                          </a:solidFill>
                          <a:latin typeface="Yu Gothic"/>
                        </a:rPr>
                        <a:t>85.4%</a:t>
                      </a:r>
                    </a:p>
                  </a:txBody>
                  <a:tcPr marL="50800" marR="50800" marT="25400" marB="25400" anchor="ctr">
                    <a:solidFill>
                      <a:srgbClr val="F4F7FB"/>
                    </a:solidFill>
                  </a:tcPr>
                </a:tc>
                <a:tc>
                  <a:txBody>
                    <a:bodyPr/>
                    <a:lstStyle/>
                    <a:p>
                      <a:pPr algn="ctr"/>
                      <a:r>
                        <a:rPr sz="900" b="0" i="0">
                          <a:solidFill>
                            <a:srgbClr val="212121"/>
                          </a:solidFill>
                          <a:latin typeface="Yu Gothic"/>
                        </a:rPr>
                        <a:t>67.9%</a:t>
                      </a:r>
                    </a:p>
                  </a:txBody>
                  <a:tcPr marL="50800" marR="50800" marT="25400" marB="25400" anchor="ctr">
                    <a:solidFill>
                      <a:srgbClr val="F4F7FB"/>
                    </a:solidFill>
                  </a:tcPr>
                </a:tc>
                <a:tc>
                  <a:txBody>
                    <a:bodyPr/>
                    <a:lstStyle/>
                    <a:p>
                      <a:pPr algn="l"/>
                      <a:r>
                        <a:rPr sz="900" b="0" i="0" dirty="0" err="1">
                          <a:solidFill>
                            <a:srgbClr val="212121"/>
                          </a:solidFill>
                          <a:latin typeface="Yu Gothic"/>
                        </a:rPr>
                        <a:t>候補データの抽出範囲がツール依存のため、実態とは乖離がある参考値</a:t>
                      </a:r>
                      <a:r>
                        <a:rPr sz="900" b="0" i="0" dirty="0">
                          <a:solidFill>
                            <a:srgbClr val="212121"/>
                          </a:solidFill>
                          <a:latin typeface="Yu Gothic"/>
                        </a:rPr>
                        <a:t>。</a:t>
                      </a:r>
                    </a:p>
                  </a:txBody>
                  <a:tcPr marL="50800" marR="50800" marT="25400" marB="25400" anchor="ctr">
                    <a:solidFill>
                      <a:srgbClr val="F4F7FB"/>
                    </a:solidFill>
                  </a:tcPr>
                </a:tc>
              </a:tr>
              <a:tr h="237744">
                <a:tc>
                  <a:txBody>
                    <a:bodyPr/>
                    <a:lstStyle/>
                    <a:p>
                      <a:pPr algn="l"/>
                      <a:r>
                        <a:rPr sz="900" b="1" i="0">
                          <a:solidFill>
                            <a:srgbClr val="212121"/>
                          </a:solidFill>
                          <a:latin typeface="Yu Gothic"/>
                        </a:rPr>
                        <a:t>設計書ベース実質カバレッジ（21項目）</a:t>
                      </a:r>
                    </a:p>
                  </a:txBody>
                  <a:tcPr marL="50800" marR="50800" marT="25400" marB="25400" anchor="ctr">
                    <a:solidFill>
                      <a:srgbClr val="FFFFFF"/>
                    </a:solidFill>
                  </a:tcPr>
                </a:tc>
                <a:tc>
                  <a:txBody>
                    <a:bodyPr/>
                    <a:lstStyle/>
                    <a:p>
                      <a:pPr algn="ctr"/>
                      <a:r>
                        <a:rPr sz="900" b="0" i="0">
                          <a:solidFill>
                            <a:srgbClr val="212121"/>
                          </a:solidFill>
                          <a:latin typeface="Yu Gothic"/>
                        </a:rPr>
                        <a:t>約93%（○18／△3）</a:t>
                      </a:r>
                    </a:p>
                  </a:txBody>
                  <a:tcPr marL="50800" marR="50800" marT="25400" marB="25400" anchor="ctr">
                    <a:solidFill>
                      <a:srgbClr val="FFFFFF"/>
                    </a:solidFill>
                  </a:tcPr>
                </a:tc>
                <a:tc>
                  <a:txBody>
                    <a:bodyPr/>
                    <a:lstStyle/>
                    <a:p>
                      <a:pPr algn="ctr"/>
                      <a:r>
                        <a:rPr sz="900" b="0" i="0" dirty="0" smtClean="0">
                          <a:solidFill>
                            <a:srgbClr val="212121"/>
                          </a:solidFill>
                          <a:latin typeface="Yu Gothic"/>
                        </a:rPr>
                        <a:t>約</a:t>
                      </a:r>
                      <a:r>
                        <a:rPr lang="en-US" sz="900" b="0" i="0" dirty="0" smtClean="0">
                          <a:solidFill>
                            <a:srgbClr val="212121"/>
                          </a:solidFill>
                          <a:latin typeface="Yu Gothic"/>
                        </a:rPr>
                        <a:t>68</a:t>
                      </a:r>
                      <a:r>
                        <a:rPr sz="900" b="0" i="0" dirty="0" smtClean="0">
                          <a:solidFill>
                            <a:srgbClr val="212121"/>
                          </a:solidFill>
                          <a:latin typeface="Yu Gothic"/>
                        </a:rPr>
                        <a:t>%（○</a:t>
                      </a:r>
                      <a:r>
                        <a:rPr lang="en-US" sz="900" b="0" i="0" dirty="0" smtClean="0">
                          <a:solidFill>
                            <a:srgbClr val="212121"/>
                          </a:solidFill>
                          <a:latin typeface="Yu Gothic"/>
                        </a:rPr>
                        <a:t>11</a:t>
                      </a:r>
                      <a:r>
                        <a:rPr sz="900" b="0" i="0" dirty="0" smtClean="0">
                          <a:solidFill>
                            <a:srgbClr val="212121"/>
                          </a:solidFill>
                          <a:latin typeface="Yu Gothic"/>
                        </a:rPr>
                        <a:t>／</a:t>
                      </a:r>
                      <a:r>
                        <a:rPr sz="900" b="0" i="0" dirty="0">
                          <a:solidFill>
                            <a:srgbClr val="212121"/>
                          </a:solidFill>
                          <a:latin typeface="Yu Gothic"/>
                        </a:rPr>
                        <a:t>△5）</a:t>
                      </a:r>
                    </a:p>
                  </a:txBody>
                  <a:tcPr marL="50800" marR="50800" marT="25400" marB="25400" anchor="ctr">
                    <a:solidFill>
                      <a:srgbClr val="FFFFFF"/>
                    </a:solidFill>
                  </a:tcPr>
                </a:tc>
                <a:tc>
                  <a:txBody>
                    <a:bodyPr/>
                    <a:lstStyle/>
                    <a:p>
                      <a:pPr algn="l"/>
                      <a:r>
                        <a:rPr sz="900" b="0" i="0" dirty="0" err="1">
                          <a:solidFill>
                            <a:srgbClr val="212121"/>
                          </a:solidFill>
                          <a:latin typeface="Yu Gothic"/>
                        </a:rPr>
                        <a:t>自己申告カバレッジとは評価が逆転する結果に</a:t>
                      </a:r>
                      <a:r>
                        <a:rPr sz="900" b="0" i="0" dirty="0">
                          <a:solidFill>
                            <a:srgbClr val="212121"/>
                          </a:solidFill>
                          <a:latin typeface="Yu Gothic"/>
                        </a:rPr>
                        <a:t>。</a:t>
                      </a:r>
                    </a:p>
                  </a:txBody>
                  <a:tcPr marL="50800" marR="50800" marT="25400" marB="25400" anchor="ctr">
                    <a:solidFill>
                      <a:srgbClr val="FFFFFF"/>
                    </a:solidFill>
                  </a:tcPr>
                </a:tc>
              </a:tr>
              <a:tr h="237744">
                <a:tc>
                  <a:txBody>
                    <a:bodyPr/>
                    <a:lstStyle/>
                    <a:p>
                      <a:pPr algn="l"/>
                      <a:r>
                        <a:rPr sz="900" b="1" i="0">
                          <a:solidFill>
                            <a:srgbClr val="212121"/>
                          </a:solidFill>
                          <a:latin typeface="Yu Gothic"/>
                        </a:rPr>
                        <a:t>境界値テストの具体性</a:t>
                      </a:r>
                    </a:p>
                  </a:txBody>
                  <a:tcPr marL="50800" marR="50800" marT="25400" marB="25400" anchor="ctr">
                    <a:solidFill>
                      <a:srgbClr val="F4F7FB"/>
                    </a:solidFill>
                  </a:tcPr>
                </a:tc>
                <a:tc>
                  <a:txBody>
                    <a:bodyPr/>
                    <a:lstStyle/>
                    <a:p>
                      <a:pPr algn="ctr"/>
                      <a:r>
                        <a:rPr sz="900" b="0" i="0">
                          <a:solidFill>
                            <a:srgbClr val="212121"/>
                          </a:solidFill>
                          <a:latin typeface="Yu Gothic"/>
                        </a:rPr>
                        <a:t>○ 具体的数値あり（OK/NG共に）</a:t>
                      </a:r>
                    </a:p>
                  </a:txBody>
                  <a:tcPr marL="50800" marR="50800" marT="25400" marB="25400" anchor="ctr">
                    <a:solidFill>
                      <a:srgbClr val="F4F7FB"/>
                    </a:solidFill>
                  </a:tcPr>
                </a:tc>
                <a:tc>
                  <a:txBody>
                    <a:bodyPr/>
                    <a:lstStyle/>
                    <a:p>
                      <a:pPr algn="ctr"/>
                      <a:r>
                        <a:rPr sz="900" b="0" i="0" dirty="0">
                          <a:solidFill>
                            <a:srgbClr val="212121"/>
                          </a:solidFill>
                          <a:latin typeface="Yu Gothic"/>
                        </a:rPr>
                        <a:t>✗ </a:t>
                      </a:r>
                      <a:r>
                        <a:rPr sz="900" b="0" i="0" dirty="0" err="1">
                          <a:solidFill>
                            <a:srgbClr val="212121"/>
                          </a:solidFill>
                          <a:latin typeface="Yu Gothic"/>
                        </a:rPr>
                        <a:t>汎用的記載のみ</a:t>
                      </a:r>
                      <a:endParaRPr sz="900" b="0" i="0" dirty="0">
                        <a:solidFill>
                          <a:srgbClr val="212121"/>
                        </a:solidFill>
                        <a:latin typeface="Yu Gothic"/>
                      </a:endParaRPr>
                    </a:p>
                  </a:txBody>
                  <a:tcPr marL="50800" marR="50800" marT="25400" marB="25400" anchor="ctr">
                    <a:solidFill>
                      <a:srgbClr val="F4F7FB"/>
                    </a:solidFill>
                  </a:tcPr>
                </a:tc>
                <a:tc>
                  <a:txBody>
                    <a:bodyPr/>
                    <a:lstStyle/>
                    <a:p>
                      <a:pPr algn="l"/>
                      <a:r>
                        <a:rPr sz="900" b="0" i="0">
                          <a:solidFill>
                            <a:srgbClr val="212121"/>
                          </a:solidFill>
                          <a:latin typeface="Yu Gothic"/>
                        </a:rPr>
                        <a:t>21文字／7文字等、実行可能な入力データの有無。</a:t>
                      </a:r>
                    </a:p>
                  </a:txBody>
                  <a:tcPr marL="50800" marR="50800" marT="25400" marB="25400" anchor="ctr">
                    <a:solidFill>
                      <a:srgbClr val="F4F7FB"/>
                    </a:solidFill>
                  </a:tcPr>
                </a:tc>
              </a:tr>
              <a:tr h="237744">
                <a:tc>
                  <a:txBody>
                    <a:bodyPr/>
                    <a:lstStyle/>
                    <a:p>
                      <a:pPr algn="l"/>
                      <a:r>
                        <a:rPr sz="900" b="1" i="0" dirty="0" err="1">
                          <a:solidFill>
                            <a:srgbClr val="212121"/>
                          </a:solidFill>
                          <a:latin typeface="Yu Gothic"/>
                        </a:rPr>
                        <a:t>アカウントロック関連テスト</a:t>
                      </a:r>
                      <a:endParaRPr sz="900" b="1" i="0" dirty="0">
                        <a:solidFill>
                          <a:srgbClr val="212121"/>
                        </a:solidFill>
                        <a:latin typeface="Yu Gothic"/>
                      </a:endParaRPr>
                    </a:p>
                  </a:txBody>
                  <a:tcPr marL="50800" marR="50800" marT="25400" marB="25400" anchor="ctr">
                    <a:solidFill>
                      <a:srgbClr val="FFFFFF"/>
                    </a:solidFill>
                  </a:tcPr>
                </a:tc>
                <a:tc>
                  <a:txBody>
                    <a:bodyPr/>
                    <a:lstStyle/>
                    <a:p>
                      <a:pPr algn="ctr"/>
                      <a:r>
                        <a:rPr sz="900" b="0" i="0" dirty="0">
                          <a:solidFill>
                            <a:srgbClr val="212121"/>
                          </a:solidFill>
                          <a:latin typeface="Yu Gothic"/>
                        </a:rPr>
                        <a:t>4件（フル対応）</a:t>
                      </a:r>
                    </a:p>
                  </a:txBody>
                  <a:tcPr marL="50800" marR="50800" marT="25400" marB="25400" anchor="ctr">
                    <a:solidFill>
                      <a:srgbClr val="FFFFFF"/>
                    </a:solidFill>
                  </a:tcPr>
                </a:tc>
                <a:tc>
                  <a:txBody>
                    <a:bodyPr/>
                    <a:lstStyle/>
                    <a:p>
                      <a:pPr algn="ctr"/>
                      <a:r>
                        <a:rPr sz="900" b="0" i="0" dirty="0">
                          <a:solidFill>
                            <a:srgbClr val="212121"/>
                          </a:solidFill>
                          <a:latin typeface="Yu Gothic"/>
                        </a:rPr>
                        <a:t>0件（該当なし）</a:t>
                      </a:r>
                    </a:p>
                  </a:txBody>
                  <a:tcPr marL="50800" marR="50800" marT="25400" marB="25400" anchor="ctr">
                    <a:solidFill>
                      <a:srgbClr val="FFFFFF"/>
                    </a:solidFill>
                  </a:tcPr>
                </a:tc>
                <a:tc>
                  <a:txBody>
                    <a:bodyPr/>
                    <a:lstStyle/>
                    <a:p>
                      <a:pPr algn="l"/>
                      <a:r>
                        <a:rPr sz="900" b="0" i="0">
                          <a:solidFill>
                            <a:srgbClr val="212121"/>
                          </a:solidFill>
                          <a:latin typeface="Yu Gothic"/>
                        </a:rPr>
                        <a:t>設計書の業務ルールに明記された要件がCopilot版に欠落。</a:t>
                      </a:r>
                    </a:p>
                  </a:txBody>
                  <a:tcPr marL="50800" marR="50800" marT="25400" marB="25400" anchor="ctr">
                    <a:solidFill>
                      <a:srgbClr val="FFFFFF"/>
                    </a:solidFill>
                  </a:tcPr>
                </a:tc>
              </a:tr>
              <a:tr h="237744">
                <a:tc>
                  <a:txBody>
                    <a:bodyPr/>
                    <a:lstStyle/>
                    <a:p>
                      <a:r>
                        <a:rPr sz="900" b="1" dirty="0" err="1">
                          <a:latin typeface="Yu Gothic" pitchFamily="34" charset="-128"/>
                          <a:ea typeface="Yu Gothic" pitchFamily="34" charset="-128"/>
                        </a:rPr>
                        <a:t>担当者満足度</a:t>
                      </a:r>
                      <a:endParaRPr sz="900" b="1" dirty="0">
                        <a:latin typeface="Yu Gothic" pitchFamily="34" charset="-128"/>
                        <a:ea typeface="Yu Gothic" pitchFamily="34" charset="-128"/>
                      </a:endParaRPr>
                    </a:p>
                  </a:txBody>
                  <a:tcPr>
                    <a:solidFill>
                      <a:srgbClr val="F4F7FB"/>
                    </a:solidFill>
                  </a:tcPr>
                </a:tc>
                <a:tc>
                  <a:txBody>
                    <a:bodyPr/>
                    <a:lstStyle/>
                    <a:p>
                      <a:pPr algn="ctr"/>
                      <a:r>
                        <a:rPr sz="900" b="0" dirty="0">
                          <a:latin typeface="Yu Gothic" pitchFamily="34" charset="-128"/>
                          <a:ea typeface="Yu Gothic" pitchFamily="34" charset="-128"/>
                        </a:rPr>
                        <a:t>4.6/5</a:t>
                      </a:r>
                    </a:p>
                  </a:txBody>
                  <a:tcPr>
                    <a:solidFill>
                      <a:srgbClr val="F4F7FB"/>
                    </a:solidFill>
                  </a:tcPr>
                </a:tc>
                <a:tc>
                  <a:txBody>
                    <a:bodyPr/>
                    <a:lstStyle/>
                    <a:p>
                      <a:pPr algn="ctr"/>
                      <a:r>
                        <a:rPr lang="en-US" sz="900" b="0" dirty="0" smtClean="0">
                          <a:latin typeface="Yu Gothic" pitchFamily="34" charset="-128"/>
                          <a:ea typeface="Yu Gothic" pitchFamily="34" charset="-128"/>
                        </a:rPr>
                        <a:t>3.4</a:t>
                      </a:r>
                      <a:r>
                        <a:rPr sz="900" b="0" dirty="0" smtClean="0">
                          <a:latin typeface="Yu Gothic" pitchFamily="34" charset="-128"/>
                          <a:ea typeface="Yu Gothic" pitchFamily="34" charset="-128"/>
                        </a:rPr>
                        <a:t>/5</a:t>
                      </a:r>
                      <a:endParaRPr sz="900" b="0" dirty="0">
                        <a:latin typeface="Yu Gothic" pitchFamily="34" charset="-128"/>
                        <a:ea typeface="Yu Gothic" pitchFamily="34" charset="-128"/>
                      </a:endParaRPr>
                    </a:p>
                  </a:txBody>
                  <a:tcPr>
                    <a:solidFill>
                      <a:srgbClr val="F4F7FB"/>
                    </a:solidFill>
                  </a:tcPr>
                </a:tc>
                <a:tc>
                  <a:txBody>
                    <a:bodyPr/>
                    <a:lstStyle/>
                    <a:p>
                      <a:pPr algn="l"/>
                      <a:r>
                        <a:rPr sz="900" b="0" dirty="0" err="1">
                          <a:latin typeface="Yu Gothic" pitchFamily="34" charset="-128"/>
                          <a:ea typeface="Yu Gothic" pitchFamily="34" charset="-128"/>
                        </a:rPr>
                        <a:t>OpenAIが高評価</a:t>
                      </a:r>
                      <a:endParaRPr sz="900" b="0" dirty="0">
                        <a:latin typeface="Yu Gothic" pitchFamily="34" charset="-128"/>
                        <a:ea typeface="Yu Gothic" pitchFamily="34" charset="-128"/>
                      </a:endParaRPr>
                    </a:p>
                  </a:txBody>
                  <a:tcPr>
                    <a:solidFill>
                      <a:srgbClr val="F4F7FB"/>
                    </a:solidFill>
                  </a:tcPr>
                </a:tc>
              </a:tr>
              <a:tr h="237744">
                <a:tc>
                  <a:txBody>
                    <a:bodyPr/>
                    <a:lstStyle/>
                    <a:p>
                      <a:r>
                        <a:rPr sz="900" b="1" dirty="0" err="1">
                          <a:latin typeface="Yu Gothic" pitchFamily="34" charset="-128"/>
                          <a:ea typeface="Yu Gothic" pitchFamily="34" charset="-128"/>
                        </a:rPr>
                        <a:t>コスト</a:t>
                      </a:r>
                      <a:endParaRPr sz="900" b="1" dirty="0">
                        <a:latin typeface="Yu Gothic" pitchFamily="34" charset="-128"/>
                        <a:ea typeface="Yu Gothic" pitchFamily="34" charset="-128"/>
                      </a:endParaRPr>
                    </a:p>
                  </a:txBody>
                  <a:tcPr>
                    <a:solidFill>
                      <a:schemeClr val="bg1"/>
                    </a:solidFill>
                  </a:tcPr>
                </a:tc>
                <a:tc>
                  <a:txBody>
                    <a:bodyPr/>
                    <a:lstStyle/>
                    <a:p>
                      <a:pPr algn="ctr"/>
                      <a:r>
                        <a:rPr sz="900" b="0" dirty="0" smtClean="0">
                          <a:latin typeface="Yu Gothic" pitchFamily="34" charset="-128"/>
                          <a:ea typeface="Yu Gothic" pitchFamily="34" charset="-128"/>
                        </a:rPr>
                        <a:t>約$</a:t>
                      </a:r>
                      <a:r>
                        <a:rPr sz="900" b="0" dirty="0">
                          <a:latin typeface="Yu Gothic" pitchFamily="34" charset="-128"/>
                          <a:ea typeface="Yu Gothic" pitchFamily="34" charset="-128"/>
                        </a:rPr>
                        <a:t>0.48</a:t>
                      </a:r>
                    </a:p>
                  </a:txBody>
                  <a:tcPr>
                    <a:solidFill>
                      <a:schemeClr val="bg1"/>
                    </a:solidFill>
                  </a:tcPr>
                </a:tc>
                <a:tc>
                  <a:txBody>
                    <a:bodyPr/>
                    <a:lstStyle/>
                    <a:p>
                      <a:pPr algn="ctr"/>
                      <a:r>
                        <a:rPr sz="900" b="0" dirty="0">
                          <a:latin typeface="Yu Gothic" pitchFamily="34" charset="-128"/>
                          <a:ea typeface="Yu Gothic" pitchFamily="34" charset="-128"/>
                        </a:rPr>
                        <a:t>約$0.15</a:t>
                      </a:r>
                    </a:p>
                  </a:txBody>
                  <a:tcPr>
                    <a:solidFill>
                      <a:schemeClr val="bg1"/>
                    </a:solidFill>
                  </a:tcPr>
                </a:tc>
                <a:tc>
                  <a:txBody>
                    <a:bodyPr/>
                    <a:lstStyle/>
                    <a:p>
                      <a:pPr algn="l"/>
                      <a:r>
                        <a:rPr sz="900" b="0" dirty="0" err="1">
                          <a:latin typeface="Yu Gothic" pitchFamily="34" charset="-128"/>
                          <a:ea typeface="Yu Gothic" pitchFamily="34" charset="-128"/>
                        </a:rPr>
                        <a:t>Copilotが安価</a:t>
                      </a:r>
                      <a:endParaRPr sz="900" b="0" dirty="0">
                        <a:latin typeface="Yu Gothic" pitchFamily="34" charset="-128"/>
                        <a:ea typeface="Yu Gothic" pitchFamily="34" charset="-128"/>
                      </a:endParaRPr>
                    </a:p>
                  </a:txBody>
                  <a:tcPr>
                    <a:solidFill>
                      <a:schemeClr val="bg1"/>
                    </a:solidFill>
                  </a:tcPr>
                </a:tc>
              </a:tr>
            </a:tbl>
          </a:graphicData>
        </a:graphic>
      </p:graphicFrame>
      <p:sp>
        <p:nvSpPr>
          <p:cNvPr id="16" name="Rounded Rectangle 15"/>
          <p:cNvSpPr/>
          <p:nvPr/>
        </p:nvSpPr>
        <p:spPr>
          <a:xfrm>
            <a:off x="274320" y="3493008"/>
            <a:ext cx="2788920" cy="1892807"/>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 y="3520439"/>
            <a:ext cx="2642615" cy="219456"/>
          </a:xfrm>
          <a:prstGeom prst="rect">
            <a:avLst/>
          </a:prstGeom>
          <a:noFill/>
        </p:spPr>
        <p:txBody>
          <a:bodyPr wrap="square" lIns="0" tIns="0" rIns="0" bIns="0" anchor="t">
            <a:spAutoFit/>
          </a:bodyPr>
          <a:lstStyle/>
          <a:p>
            <a:pPr algn="l">
              <a:lnSpc>
                <a:spcPct val="100000"/>
              </a:lnSpc>
            </a:pPr>
            <a:r>
              <a:rPr sz="830" b="1" i="0">
                <a:solidFill>
                  <a:srgbClr val="1F3864"/>
                </a:solidFill>
                <a:latin typeface="Yu Gothic"/>
              </a:rPr>
              <a:t>① 設計書ベース実質カバレッジ比較</a:t>
            </a:r>
          </a:p>
        </p:txBody>
      </p:sp>
      <p:graphicFrame>
        <p:nvGraphicFramePr>
          <p:cNvPr id="18" name="Chart 17"/>
          <p:cNvGraphicFramePr>
            <a:graphicFrameLocks noGrp="1"/>
          </p:cNvGraphicFramePr>
          <p:nvPr>
            <p:extLst>
              <p:ext uri="{D42A27DB-BD31-4B8C-83A1-F6EECF244321}">
                <p14:modId xmlns:p14="http://schemas.microsoft.com/office/powerpoint/2010/main" val="4131089511"/>
              </p:ext>
            </p:extLst>
          </p:nvPr>
        </p:nvGraphicFramePr>
        <p:xfrm>
          <a:off x="320040" y="3739896"/>
          <a:ext cx="2697479" cy="1600200"/>
        </p:xfrm>
        <a:graphic>
          <a:graphicData uri="http://schemas.openxmlformats.org/drawingml/2006/chart">
            <c:chart xmlns:c="http://schemas.openxmlformats.org/drawingml/2006/chart" xmlns:r="http://schemas.openxmlformats.org/officeDocument/2006/relationships" r:id="rId3"/>
          </a:graphicData>
        </a:graphic>
      </p:graphicFrame>
      <p:sp>
        <p:nvSpPr>
          <p:cNvPr id="19" name="Rounded Rectangle 18"/>
          <p:cNvSpPr/>
          <p:nvPr/>
        </p:nvSpPr>
        <p:spPr>
          <a:xfrm>
            <a:off x="3172968" y="3493008"/>
            <a:ext cx="2788920" cy="1892807"/>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46120" y="3520439"/>
            <a:ext cx="2642615" cy="219456"/>
          </a:xfrm>
          <a:prstGeom prst="rect">
            <a:avLst/>
          </a:prstGeom>
          <a:noFill/>
        </p:spPr>
        <p:txBody>
          <a:bodyPr wrap="square" lIns="0" tIns="0" rIns="0" bIns="0" anchor="t">
            <a:spAutoFit/>
          </a:bodyPr>
          <a:lstStyle/>
          <a:p>
            <a:pPr algn="l">
              <a:lnSpc>
                <a:spcPct val="100000"/>
              </a:lnSpc>
            </a:pPr>
            <a:r>
              <a:rPr sz="830" b="1" i="0">
                <a:solidFill>
                  <a:srgbClr val="1F3864"/>
                </a:solidFill>
                <a:latin typeface="Yu Gothic"/>
              </a:rPr>
              <a:t>② 自己申告 vs 実質カバレッジの乖離</a:t>
            </a:r>
          </a:p>
        </p:txBody>
      </p:sp>
      <p:graphicFrame>
        <p:nvGraphicFramePr>
          <p:cNvPr id="21" name="Chart 20"/>
          <p:cNvGraphicFramePr>
            <a:graphicFrameLocks noGrp="1"/>
          </p:cNvGraphicFramePr>
          <p:nvPr>
            <p:extLst>
              <p:ext uri="{D42A27DB-BD31-4B8C-83A1-F6EECF244321}">
                <p14:modId xmlns:p14="http://schemas.microsoft.com/office/powerpoint/2010/main" val="2640271852"/>
              </p:ext>
            </p:extLst>
          </p:nvPr>
        </p:nvGraphicFramePr>
        <p:xfrm>
          <a:off x="3218687" y="3739896"/>
          <a:ext cx="2697479" cy="1600200"/>
        </p:xfrm>
        <a:graphic>
          <a:graphicData uri="http://schemas.openxmlformats.org/drawingml/2006/chart">
            <c:chart xmlns:c="http://schemas.openxmlformats.org/drawingml/2006/chart" xmlns:r="http://schemas.openxmlformats.org/officeDocument/2006/relationships" r:id="rId4"/>
          </a:graphicData>
        </a:graphic>
      </p:graphicFrame>
      <p:sp>
        <p:nvSpPr>
          <p:cNvPr id="22" name="Rounded Rectangle 21"/>
          <p:cNvSpPr/>
          <p:nvPr/>
        </p:nvSpPr>
        <p:spPr>
          <a:xfrm>
            <a:off x="6071616" y="3493008"/>
            <a:ext cx="2788920" cy="1892807"/>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44768" y="3520439"/>
            <a:ext cx="2642615" cy="219456"/>
          </a:xfrm>
          <a:prstGeom prst="rect">
            <a:avLst/>
          </a:prstGeom>
          <a:noFill/>
        </p:spPr>
        <p:txBody>
          <a:bodyPr wrap="square" lIns="0" tIns="0" rIns="0" bIns="0" anchor="t">
            <a:spAutoFit/>
          </a:bodyPr>
          <a:lstStyle/>
          <a:p>
            <a:pPr algn="l">
              <a:lnSpc>
                <a:spcPct val="100000"/>
              </a:lnSpc>
            </a:pPr>
            <a:r>
              <a:rPr sz="830" b="1" i="0">
                <a:solidFill>
                  <a:srgbClr val="1F3864"/>
                </a:solidFill>
                <a:latin typeface="Yu Gothic"/>
              </a:rPr>
              <a:t>③ 21項目チェックリスト内訳</a:t>
            </a:r>
          </a:p>
        </p:txBody>
      </p:sp>
      <p:graphicFrame>
        <p:nvGraphicFramePr>
          <p:cNvPr id="24" name="Chart 23"/>
          <p:cNvGraphicFramePr>
            <a:graphicFrameLocks noGrp="1"/>
          </p:cNvGraphicFramePr>
          <p:nvPr>
            <p:extLst>
              <p:ext uri="{D42A27DB-BD31-4B8C-83A1-F6EECF244321}">
                <p14:modId xmlns:p14="http://schemas.microsoft.com/office/powerpoint/2010/main" val="3009394868"/>
              </p:ext>
            </p:extLst>
          </p:nvPr>
        </p:nvGraphicFramePr>
        <p:xfrm>
          <a:off x="6117336" y="3739896"/>
          <a:ext cx="2697479" cy="1600200"/>
        </p:xfrm>
        <a:graphic>
          <a:graphicData uri="http://schemas.openxmlformats.org/drawingml/2006/chart">
            <c:chart xmlns:c="http://schemas.openxmlformats.org/drawingml/2006/chart" xmlns:r="http://schemas.openxmlformats.org/officeDocument/2006/relationships" r:id="rId5"/>
          </a:graphicData>
        </a:graphic>
      </p:graphicFrame>
      <p:sp>
        <p:nvSpPr>
          <p:cNvPr id="25" name="Rounded Rectangle 24"/>
          <p:cNvSpPr/>
          <p:nvPr/>
        </p:nvSpPr>
        <p:spPr>
          <a:xfrm>
            <a:off x="8970264" y="3493008"/>
            <a:ext cx="2788920" cy="1892807"/>
          </a:xfrm>
          <a:prstGeom prst="roundRect">
            <a:avLst>
              <a:gd name="adj" fmla="val 4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43416" y="3520439"/>
            <a:ext cx="2642615" cy="219456"/>
          </a:xfrm>
          <a:prstGeom prst="rect">
            <a:avLst/>
          </a:prstGeom>
          <a:noFill/>
        </p:spPr>
        <p:txBody>
          <a:bodyPr wrap="square" lIns="0" tIns="0" rIns="0" bIns="0" anchor="t">
            <a:spAutoFit/>
          </a:bodyPr>
          <a:lstStyle/>
          <a:p>
            <a:pPr algn="l">
              <a:lnSpc>
                <a:spcPct val="100000"/>
              </a:lnSpc>
            </a:pPr>
            <a:r>
              <a:rPr sz="830" b="1" i="0">
                <a:solidFill>
                  <a:srgbClr val="1F3864"/>
                </a:solidFill>
                <a:latin typeface="Yu Gothic"/>
              </a:rPr>
              <a:t>④ カテゴリ別網羅度レーダーチャート</a:t>
            </a:r>
          </a:p>
        </p:txBody>
      </p:sp>
      <p:graphicFrame>
        <p:nvGraphicFramePr>
          <p:cNvPr id="27" name="Chart 26"/>
          <p:cNvGraphicFramePr>
            <a:graphicFrameLocks noGrp="1"/>
          </p:cNvGraphicFramePr>
          <p:nvPr>
            <p:extLst>
              <p:ext uri="{D42A27DB-BD31-4B8C-83A1-F6EECF244321}">
                <p14:modId xmlns:p14="http://schemas.microsoft.com/office/powerpoint/2010/main" val="2747558723"/>
              </p:ext>
            </p:extLst>
          </p:nvPr>
        </p:nvGraphicFramePr>
        <p:xfrm>
          <a:off x="9015984" y="3739896"/>
          <a:ext cx="2697479" cy="1600200"/>
        </p:xfrm>
        <a:graphic>
          <a:graphicData uri="http://schemas.openxmlformats.org/drawingml/2006/chart">
            <c:chart xmlns:c="http://schemas.openxmlformats.org/drawingml/2006/chart" xmlns:r="http://schemas.openxmlformats.org/officeDocument/2006/relationships" r:id="rId6"/>
          </a:graphicData>
        </a:graphic>
      </p:graphicFrame>
      <p:sp>
        <p:nvSpPr>
          <p:cNvPr id="28" name="Rectangle 27"/>
          <p:cNvSpPr/>
          <p:nvPr/>
        </p:nvSpPr>
        <p:spPr>
          <a:xfrm>
            <a:off x="274320" y="5495544"/>
            <a:ext cx="5687568" cy="256032"/>
          </a:xfrm>
          <a:prstGeom prst="rect">
            <a:avLst/>
          </a:prstGeom>
          <a:solidFill>
            <a:srgbClr val="5482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65760" y="5522976"/>
            <a:ext cx="5406699" cy="146194"/>
          </a:xfrm>
          <a:prstGeom prst="rect">
            <a:avLst/>
          </a:prstGeom>
          <a:noFill/>
        </p:spPr>
        <p:txBody>
          <a:bodyPr wrap="square" lIns="0" tIns="0" rIns="0" bIns="0" anchor="t">
            <a:spAutoFit/>
          </a:bodyPr>
          <a:lstStyle/>
          <a:p>
            <a:pPr algn="l">
              <a:lnSpc>
                <a:spcPct val="100000"/>
              </a:lnSpc>
            </a:pPr>
            <a:r>
              <a:rPr sz="950" b="1" i="0" dirty="0" err="1" smtClean="0">
                <a:solidFill>
                  <a:srgbClr val="FFFFFF"/>
                </a:solidFill>
                <a:latin typeface="Yu Gothic"/>
              </a:rPr>
              <a:t>検証結果まとめ</a:t>
            </a:r>
            <a:endParaRPr sz="950" b="1" i="0" dirty="0">
              <a:solidFill>
                <a:srgbClr val="FFFFFF"/>
              </a:solidFill>
              <a:latin typeface="Yu Gothic"/>
            </a:endParaRPr>
          </a:p>
        </p:txBody>
      </p:sp>
      <p:sp>
        <p:nvSpPr>
          <p:cNvPr id="30" name="Rectangle 29"/>
          <p:cNvSpPr/>
          <p:nvPr/>
        </p:nvSpPr>
        <p:spPr>
          <a:xfrm>
            <a:off x="274320" y="5751576"/>
            <a:ext cx="5687568" cy="969264"/>
          </a:xfrm>
          <a:prstGeom prst="rect">
            <a:avLst/>
          </a:prstGeom>
          <a:solidFill>
            <a:srgbClr val="E2E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84048" y="5815584"/>
            <a:ext cx="5406699" cy="491160"/>
          </a:xfrm>
          <a:prstGeom prst="rect">
            <a:avLst/>
          </a:prstGeom>
          <a:noFill/>
        </p:spPr>
        <p:txBody>
          <a:bodyPr wrap="square" lIns="0" tIns="0" rIns="0" bIns="0" anchor="t">
            <a:spAutoFit/>
          </a:bodyPr>
          <a:lstStyle/>
          <a:p>
            <a:pPr algn="l">
              <a:lnSpc>
                <a:spcPct val="105000"/>
              </a:lnSpc>
            </a:pPr>
            <a:r>
              <a:rPr sz="760" b="0" i="0" dirty="0">
                <a:solidFill>
                  <a:srgbClr val="212121"/>
                </a:solidFill>
                <a:latin typeface="Yu Gothic"/>
              </a:rPr>
              <a:t>・</a:t>
            </a:r>
            <a:r>
              <a:rPr sz="760" b="0" i="0" dirty="0" err="1">
                <a:solidFill>
                  <a:srgbClr val="212121"/>
                </a:solidFill>
                <a:latin typeface="Yu Gothic"/>
              </a:rPr>
              <a:t>OpenAI版は必須チェック・境界値・アカウントロック等、設計書要求の網羅性で優れていた</a:t>
            </a:r>
            <a:r>
              <a:rPr sz="760" b="0" i="0" dirty="0">
                <a:solidFill>
                  <a:srgbClr val="212121"/>
                </a:solidFill>
                <a:latin typeface="Yu Gothic"/>
              </a:rPr>
              <a:t>。</a:t>
            </a:r>
          </a:p>
          <a:p>
            <a:pPr algn="l">
              <a:lnSpc>
                <a:spcPct val="105000"/>
              </a:lnSpc>
            </a:pPr>
            <a:r>
              <a:rPr sz="760" b="0" i="0" dirty="0">
                <a:solidFill>
                  <a:srgbClr val="212121"/>
                </a:solidFill>
                <a:latin typeface="Yu Gothic"/>
              </a:rPr>
              <a:t>・</a:t>
            </a:r>
            <a:r>
              <a:rPr sz="760" b="0" i="0" dirty="0" err="1">
                <a:solidFill>
                  <a:srgbClr val="212121"/>
                </a:solidFill>
                <a:latin typeface="Yu Gothic"/>
              </a:rPr>
              <a:t>Copilot版は自己申告カバレッジこそ高いが、具体的な入力データやロック関連テストが欠落しており実態は逆</a:t>
            </a:r>
            <a:r>
              <a:rPr sz="760" b="0" i="0" dirty="0">
                <a:solidFill>
                  <a:srgbClr val="212121"/>
                </a:solidFill>
                <a:latin typeface="Yu Gothic"/>
              </a:rPr>
              <a:t>。</a:t>
            </a:r>
          </a:p>
          <a:p>
            <a:pPr algn="l">
              <a:lnSpc>
                <a:spcPct val="105000"/>
              </a:lnSpc>
            </a:pPr>
            <a:r>
              <a:rPr sz="760" b="0" i="0" dirty="0">
                <a:solidFill>
                  <a:srgbClr val="212121"/>
                </a:solidFill>
                <a:latin typeface="Yu Gothic"/>
              </a:rPr>
              <a:t>・</a:t>
            </a:r>
            <a:r>
              <a:rPr sz="760" b="0" i="0" dirty="0" err="1">
                <a:solidFill>
                  <a:srgbClr val="212121"/>
                </a:solidFill>
                <a:latin typeface="Yu Gothic"/>
              </a:rPr>
              <a:t>自己申告数値は候補データの粒度に依存するため、正式評価では設計書ベースの検証が必須</a:t>
            </a:r>
            <a:r>
              <a:rPr sz="760" b="0" i="0" dirty="0" smtClean="0">
                <a:solidFill>
                  <a:srgbClr val="212121"/>
                </a:solidFill>
                <a:latin typeface="Yu Gothic"/>
              </a:rPr>
              <a:t>。</a:t>
            </a:r>
            <a:endParaRPr sz="760" b="0" i="0" dirty="0">
              <a:solidFill>
                <a:srgbClr val="212121"/>
              </a:solidFill>
              <a:latin typeface="Yu Gothic"/>
            </a:endParaRPr>
          </a:p>
          <a:p>
            <a:pPr algn="l">
              <a:lnSpc>
                <a:spcPct val="105000"/>
              </a:lnSpc>
            </a:pPr>
            <a:r>
              <a:rPr sz="760" b="0" i="0" dirty="0" err="1">
                <a:solidFill>
                  <a:srgbClr val="212121"/>
                </a:solidFill>
                <a:latin typeface="Yu Gothic"/>
              </a:rPr>
              <a:t>結論：本格導入にはOpenAI版を推奨</a:t>
            </a:r>
            <a:r>
              <a:rPr sz="760" b="0" i="0" dirty="0">
                <a:solidFill>
                  <a:srgbClr val="212121"/>
                </a:solidFill>
                <a:latin typeface="Yu Gothic"/>
              </a:rPr>
              <a:t>。</a:t>
            </a:r>
          </a:p>
        </p:txBody>
      </p:sp>
      <p:sp>
        <p:nvSpPr>
          <p:cNvPr id="36" name="Rectangle 35"/>
          <p:cNvSpPr/>
          <p:nvPr/>
        </p:nvSpPr>
        <p:spPr>
          <a:xfrm>
            <a:off x="6068166" y="5498700"/>
            <a:ext cx="5699109" cy="256032"/>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159606" y="5526132"/>
            <a:ext cx="5417670" cy="141449"/>
          </a:xfrm>
          <a:prstGeom prst="rect">
            <a:avLst/>
          </a:prstGeom>
          <a:noFill/>
        </p:spPr>
        <p:txBody>
          <a:bodyPr wrap="square" lIns="0" tIns="0" rIns="0" bIns="0" anchor="t">
            <a:spAutoFit/>
          </a:bodyPr>
          <a:lstStyle/>
          <a:p>
            <a:pPr algn="l">
              <a:lnSpc>
                <a:spcPct val="100000"/>
              </a:lnSpc>
            </a:pPr>
            <a:r>
              <a:rPr sz="919" b="1" i="0" dirty="0" err="1">
                <a:solidFill>
                  <a:srgbClr val="FFFFFF"/>
                </a:solidFill>
                <a:latin typeface="Yu Gothic"/>
              </a:rPr>
              <a:t>期待メリット（OpenAI導入による効果</a:t>
            </a:r>
            <a:r>
              <a:rPr sz="919" b="1" i="0" dirty="0">
                <a:solidFill>
                  <a:srgbClr val="FFFFFF"/>
                </a:solidFill>
                <a:latin typeface="Yu Gothic"/>
              </a:rPr>
              <a:t>）</a:t>
            </a:r>
          </a:p>
        </p:txBody>
      </p:sp>
      <p:sp>
        <p:nvSpPr>
          <p:cNvPr id="38" name="Rectangle 37"/>
          <p:cNvSpPr/>
          <p:nvPr/>
        </p:nvSpPr>
        <p:spPr>
          <a:xfrm>
            <a:off x="6068166" y="5754732"/>
            <a:ext cx="5699109" cy="969264"/>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162194" y="5818740"/>
            <a:ext cx="5417670" cy="368371"/>
          </a:xfrm>
          <a:prstGeom prst="rect">
            <a:avLst/>
          </a:prstGeom>
          <a:noFill/>
        </p:spPr>
        <p:txBody>
          <a:bodyPr wrap="square" lIns="0" tIns="0" rIns="0" bIns="0" anchor="t">
            <a:spAutoFit/>
          </a:bodyPr>
          <a:lstStyle/>
          <a:p>
            <a:pPr algn="l">
              <a:lnSpc>
                <a:spcPct val="105000"/>
              </a:lnSpc>
            </a:pPr>
            <a:r>
              <a:rPr sz="760" b="0" i="0" dirty="0" err="1">
                <a:solidFill>
                  <a:srgbClr val="212121"/>
                </a:solidFill>
                <a:latin typeface="Yu Gothic"/>
              </a:rPr>
              <a:t>工数削減：具体的な入力データを持つケースが多く、テスト設計・手戻り工数を削減見込み</a:t>
            </a:r>
            <a:endParaRPr sz="760" b="0" i="0" dirty="0">
              <a:solidFill>
                <a:srgbClr val="212121"/>
              </a:solidFill>
              <a:latin typeface="Yu Gothic"/>
            </a:endParaRPr>
          </a:p>
          <a:p>
            <a:pPr algn="l">
              <a:lnSpc>
                <a:spcPct val="105000"/>
              </a:lnSpc>
            </a:pPr>
            <a:endParaRPr sz="760" b="0" i="0" dirty="0">
              <a:solidFill>
                <a:srgbClr val="212121"/>
              </a:solidFill>
              <a:latin typeface="Yu Gothic"/>
            </a:endParaRPr>
          </a:p>
          <a:p>
            <a:pPr algn="l">
              <a:lnSpc>
                <a:spcPct val="105000"/>
              </a:lnSpc>
            </a:pPr>
            <a:r>
              <a:rPr sz="760" b="0" i="0" dirty="0" err="1">
                <a:solidFill>
                  <a:srgbClr val="212121"/>
                </a:solidFill>
                <a:latin typeface="Yu Gothic"/>
              </a:rPr>
              <a:t>品質向上：境界値・</a:t>
            </a:r>
            <a:r>
              <a:rPr sz="760" b="0" i="0" dirty="0" err="1" smtClean="0">
                <a:solidFill>
                  <a:srgbClr val="212121"/>
                </a:solidFill>
                <a:latin typeface="Yu Gothic"/>
              </a:rPr>
              <a:t>ロック等の抜け漏れ防止によりリリース後の不具合検出率向上</a:t>
            </a:r>
            <a:endParaRPr sz="760" b="0" i="0" dirty="0">
              <a:solidFill>
                <a:srgbClr val="212121"/>
              </a:solidFill>
              <a:latin typeface="Yu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64592"/>
            <a:ext cx="9692640" cy="365760"/>
          </a:xfrm>
          <a:prstGeom prst="rect">
            <a:avLst/>
          </a:prstGeom>
          <a:noFill/>
        </p:spPr>
        <p:txBody>
          <a:bodyPr wrap="square" lIns="0" tIns="0" rIns="0" bIns="0" anchor="t">
            <a:spAutoFit/>
          </a:bodyPr>
          <a:lstStyle/>
          <a:p>
            <a:pPr algn="l">
              <a:lnSpc>
                <a:spcPct val="100000"/>
              </a:lnSpc>
            </a:pPr>
            <a:r>
              <a:rPr sz="1700" b="1" i="0">
                <a:solidFill>
                  <a:srgbClr val="212121"/>
                </a:solidFill>
                <a:latin typeface="Yu Gothic"/>
              </a:rPr>
              <a:t>評価基準（基本設計書・詳細設計書より抽出、21項目）と結果</a:t>
            </a:r>
          </a:p>
        </p:txBody>
      </p:sp>
      <p:pic>
        <p:nvPicPr>
          <p:cNvPr id="4" name="Picture 3" descr="dat_logo.jpeg"/>
          <p:cNvPicPr>
            <a:picLocks noChangeAspect="1"/>
          </p:cNvPicPr>
          <p:nvPr/>
        </p:nvPicPr>
        <p:blipFill>
          <a:blip r:embed="rId2"/>
          <a:stretch>
            <a:fillRect/>
          </a:stretch>
        </p:blipFill>
        <p:spPr>
          <a:xfrm>
            <a:off x="10881360" y="128016"/>
            <a:ext cx="845584" cy="420624"/>
          </a:xfrm>
          <a:prstGeom prst="rect">
            <a:avLst/>
          </a:prstGeom>
        </p:spPr>
      </p:pic>
      <p:sp>
        <p:nvSpPr>
          <p:cNvPr id="5" name="Rectangle 4"/>
          <p:cNvSpPr/>
          <p:nvPr/>
        </p:nvSpPr>
        <p:spPr>
          <a:xfrm>
            <a:off x="274320" y="603504"/>
            <a:ext cx="11640312" cy="27432"/>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38560" y="6492240"/>
            <a:ext cx="548640" cy="274320"/>
          </a:xfrm>
          <a:prstGeom prst="rect">
            <a:avLst/>
          </a:prstGeom>
          <a:noFill/>
        </p:spPr>
        <p:txBody>
          <a:bodyPr wrap="square" lIns="0" tIns="0" rIns="0" bIns="0" anchor="t">
            <a:spAutoFit/>
          </a:bodyPr>
          <a:lstStyle/>
          <a:p>
            <a:pPr algn="r">
              <a:lnSpc>
                <a:spcPct val="100000"/>
              </a:lnSpc>
            </a:pPr>
            <a:r>
              <a:rPr sz="1050" b="0" i="0">
                <a:solidFill>
                  <a:srgbClr val="808080"/>
                </a:solidFill>
                <a:latin typeface="Yu Gothic"/>
              </a:rPr>
              <a:t>3</a:t>
            </a:r>
          </a:p>
        </p:txBody>
      </p:sp>
      <p:sp>
        <p:nvSpPr>
          <p:cNvPr id="7" name="TextBox 6"/>
          <p:cNvSpPr txBox="1"/>
          <p:nvPr/>
        </p:nvSpPr>
        <p:spPr>
          <a:xfrm>
            <a:off x="274320" y="685800"/>
            <a:ext cx="11612880" cy="219456"/>
          </a:xfrm>
          <a:prstGeom prst="rect">
            <a:avLst/>
          </a:prstGeom>
          <a:noFill/>
        </p:spPr>
        <p:txBody>
          <a:bodyPr wrap="square" lIns="0" tIns="0" rIns="0" bIns="0" anchor="t">
            <a:spAutoFit/>
          </a:bodyPr>
          <a:lstStyle/>
          <a:p>
            <a:pPr algn="l">
              <a:lnSpc>
                <a:spcPct val="100000"/>
              </a:lnSpc>
            </a:pPr>
            <a:r>
              <a:rPr sz="900" b="0" i="0">
                <a:solidFill>
                  <a:srgbClr val="595959"/>
                </a:solidFill>
                <a:latin typeface="Yu Gothic"/>
              </a:rPr>
              <a:t>○＝十分に検証されている　　△＝部分的・汎用的にしか検証されていない　　✗＝該当テストケースが存在しない</a:t>
            </a:r>
          </a:p>
        </p:txBody>
      </p:sp>
      <p:graphicFrame>
        <p:nvGraphicFramePr>
          <p:cNvPr id="8" name="Table 7"/>
          <p:cNvGraphicFramePr>
            <a:graphicFrameLocks noGrp="1"/>
          </p:cNvGraphicFramePr>
          <p:nvPr>
            <p:extLst>
              <p:ext uri="{D42A27DB-BD31-4B8C-83A1-F6EECF244321}">
                <p14:modId xmlns:p14="http://schemas.microsoft.com/office/powerpoint/2010/main" val="4018248216"/>
              </p:ext>
            </p:extLst>
          </p:nvPr>
        </p:nvGraphicFramePr>
        <p:xfrm>
          <a:off x="274320" y="960120"/>
          <a:ext cx="5669280" cy="5623554"/>
        </p:xfrm>
        <a:graphic>
          <a:graphicData uri="http://schemas.openxmlformats.org/drawingml/2006/table">
            <a:tbl>
              <a:tblPr firstRow="1" bandRow="1">
                <a:tableStyleId>{5C22544A-7EE6-4342-B048-85BDC9FD1C3A}</a:tableStyleId>
              </a:tblPr>
              <a:tblGrid>
                <a:gridCol w="411480"/>
                <a:gridCol w="3246120"/>
                <a:gridCol w="1005840"/>
                <a:gridCol w="1005840"/>
              </a:tblGrid>
              <a:tr h="274320">
                <a:tc>
                  <a:txBody>
                    <a:bodyPr/>
                    <a:lstStyle/>
                    <a:p>
                      <a:pPr algn="ctr"/>
                      <a:r>
                        <a:rPr sz="950" b="1" i="0" dirty="0">
                          <a:solidFill>
                            <a:srgbClr val="FFFFFF"/>
                          </a:solidFill>
                          <a:latin typeface="Yu Gothic"/>
                        </a:rPr>
                        <a:t>No</a:t>
                      </a:r>
                    </a:p>
                  </a:txBody>
                  <a:tcPr marL="50800" marR="50800" marT="25400" marB="254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F3864"/>
                    </a:solidFill>
                  </a:tcPr>
                </a:tc>
                <a:tc>
                  <a:txBody>
                    <a:bodyPr/>
                    <a:lstStyle/>
                    <a:p>
                      <a:pPr algn="l"/>
                      <a:r>
                        <a:rPr sz="950" b="1" i="0">
                          <a:solidFill>
                            <a:srgbClr val="FFFFFF"/>
                          </a:solidFill>
                          <a:latin typeface="Yu Gothic"/>
                        </a:rPr>
                        <a:t>評価観点</a:t>
                      </a:r>
                    </a:p>
                  </a:txBody>
                  <a:tcPr marL="50800" marR="50800" marT="25400" marB="25400" anchor="ctr">
                    <a:lnT w="12700" cap="flat" cmpd="sng" algn="ctr">
                      <a:solidFill>
                        <a:schemeClr val="tx1"/>
                      </a:solidFill>
                      <a:prstDash val="solid"/>
                      <a:round/>
                      <a:headEnd type="none" w="med" len="med"/>
                      <a:tailEnd type="none" w="med" len="med"/>
                    </a:lnT>
                    <a:solidFill>
                      <a:srgbClr val="1F3864"/>
                    </a:solidFill>
                  </a:tcPr>
                </a:tc>
                <a:tc>
                  <a:txBody>
                    <a:bodyPr/>
                    <a:lstStyle/>
                    <a:p>
                      <a:pPr algn="ctr"/>
                      <a:r>
                        <a:rPr sz="950" b="1" i="0" dirty="0">
                          <a:solidFill>
                            <a:srgbClr val="FFFFFF"/>
                          </a:solidFill>
                          <a:latin typeface="Yu Gothic"/>
                        </a:rPr>
                        <a:t>OpenAI</a:t>
                      </a:r>
                    </a:p>
                  </a:txBody>
                  <a:tcPr marL="50800" marR="50800" marT="25400" marB="25400" anchor="ctr">
                    <a:lnT w="12700" cap="flat" cmpd="sng" algn="ctr">
                      <a:solidFill>
                        <a:schemeClr val="tx1"/>
                      </a:solidFill>
                      <a:prstDash val="solid"/>
                      <a:round/>
                      <a:headEnd type="none" w="med" len="med"/>
                      <a:tailEnd type="none" w="med" len="med"/>
                    </a:lnT>
                    <a:solidFill>
                      <a:srgbClr val="1F3864"/>
                    </a:solidFill>
                  </a:tcPr>
                </a:tc>
                <a:tc>
                  <a:txBody>
                    <a:bodyPr/>
                    <a:lstStyle/>
                    <a:p>
                      <a:pPr algn="ctr"/>
                      <a:r>
                        <a:rPr sz="950" b="1" i="0">
                          <a:solidFill>
                            <a:srgbClr val="FFFFFF"/>
                          </a:solidFill>
                          <a:latin typeface="Yu Gothic"/>
                        </a:rPr>
                        <a:t>Copilot</a:t>
                      </a:r>
                    </a:p>
                  </a:txBody>
                  <a:tcPr marL="50800" marR="50800" marT="25400" marB="254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1F3864"/>
                    </a:solidFill>
                  </a:tcPr>
                </a:tc>
              </a:tr>
              <a:tr h="486294">
                <a:tc>
                  <a:txBody>
                    <a:bodyPr/>
                    <a:lstStyle/>
                    <a:p>
                      <a:pPr algn="ctr"/>
                      <a:r>
                        <a:rPr sz="800" b="0" i="0" dirty="0">
                          <a:solidFill>
                            <a:srgbClr val="212121"/>
                          </a:solidFill>
                          <a:latin typeface="Yu Gothic"/>
                        </a:rPr>
                        <a:t>1</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err="1">
                          <a:solidFill>
                            <a:srgbClr val="212121"/>
                          </a:solidFill>
                          <a:latin typeface="Yu Gothic"/>
                        </a:rPr>
                        <a:t>ユーザーID未入力（NULL</a:t>
                      </a:r>
                      <a:r>
                        <a:rPr sz="760" b="0" i="0" dirty="0">
                          <a:solidFill>
                            <a:srgbClr val="212121"/>
                          </a:solidFill>
                          <a:latin typeface="Yu Gothic"/>
                        </a:rPr>
                        <a:t>）→</a:t>
                      </a:r>
                      <a:r>
                        <a:rPr sz="760" b="0" i="0" dirty="0" err="1">
                          <a:solidFill>
                            <a:srgbClr val="212121"/>
                          </a:solidFill>
                          <a:latin typeface="Yu Gothic"/>
                        </a:rPr>
                        <a:t>エラー表示（詳細設計書</a:t>
                      </a:r>
                      <a:r>
                        <a:rPr sz="760" b="0" i="0" dirty="0">
                          <a:solidFill>
                            <a:srgbClr val="212121"/>
                          </a:solidFill>
                          <a:latin typeface="Yu Gothic"/>
                        </a:rPr>
                        <a:t> 入力チェック仕様No.1）</a:t>
                      </a: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lang="en-US" sz="700" b="0" i="0" dirty="0" smtClean="0">
                          <a:solidFill>
                            <a:srgbClr val="212121"/>
                          </a:solidFill>
                          <a:latin typeface="Yu Gothic"/>
                        </a:rPr>
                        <a:t>○</a:t>
                      </a:r>
                      <a:endParaRPr lang="en-US" sz="700" b="0" i="0" dirty="0">
                        <a:solidFill>
                          <a:srgbClr val="212121"/>
                        </a:solidFill>
                        <a:latin typeface="Yu Gothic"/>
                      </a:endParaRPr>
                    </a:p>
                  </a:txBody>
                  <a:tcPr marL="50800" marR="50800" marT="25400" marB="25400" anchor="ctr">
                    <a:lnR w="12700" cap="flat" cmpd="sng" algn="ctr">
                      <a:solidFill>
                        <a:schemeClr val="tx1"/>
                      </a:solidFill>
                      <a:prstDash val="solid"/>
                      <a:round/>
                      <a:headEnd type="none" w="med" len="med"/>
                      <a:tailEnd type="none" w="med" len="med"/>
                    </a:lnR>
                    <a:solidFill>
                      <a:schemeClr val="accent3">
                        <a:lumMod val="20000"/>
                        <a:lumOff val="80000"/>
                      </a:schemeClr>
                    </a:solidFill>
                  </a:tcPr>
                </a:tc>
              </a:tr>
              <a:tr h="486294">
                <a:tc>
                  <a:txBody>
                    <a:bodyPr/>
                    <a:lstStyle/>
                    <a:p>
                      <a:pPr algn="ctr"/>
                      <a:r>
                        <a:rPr sz="800" b="0" i="0" dirty="0">
                          <a:solidFill>
                            <a:srgbClr val="212121"/>
                          </a:solidFill>
                          <a:latin typeface="Yu Gothic"/>
                        </a:rPr>
                        <a:t>2</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err="1">
                          <a:solidFill>
                            <a:srgbClr val="212121"/>
                          </a:solidFill>
                          <a:latin typeface="Yu Gothic"/>
                        </a:rPr>
                        <a:t>パスワード未入力（NULL</a:t>
                      </a:r>
                      <a:r>
                        <a:rPr sz="760" b="0" i="0" dirty="0">
                          <a:solidFill>
                            <a:srgbClr val="212121"/>
                          </a:solidFill>
                          <a:latin typeface="Yu Gothic"/>
                        </a:rPr>
                        <a:t>）→エラー表示（同No.2）</a:t>
                      </a: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sz="720" b="0" i="0" dirty="0" smtClean="0">
                          <a:solidFill>
                            <a:srgbClr val="212121"/>
                          </a:solidFill>
                          <a:latin typeface="Yu Gothic"/>
                        </a:rPr>
                        <a:t>△</a:t>
                      </a:r>
                      <a:endParaRPr sz="720" b="0" i="0" dirty="0">
                        <a:solidFill>
                          <a:srgbClr val="212121"/>
                        </a:solidFill>
                        <a:latin typeface="Yu Gothic"/>
                      </a:endParaRPr>
                    </a:p>
                  </a:txBody>
                  <a:tcPr marL="50800" marR="50800" marT="25400" marB="25400" anchor="ctr">
                    <a:lnR w="12700" cap="flat" cmpd="sng" algn="ctr">
                      <a:solidFill>
                        <a:schemeClr val="tx1"/>
                      </a:solidFill>
                      <a:prstDash val="solid"/>
                      <a:round/>
                      <a:headEnd type="none" w="med" len="med"/>
                      <a:tailEnd type="none" w="med" len="med"/>
                    </a:lnR>
                    <a:solidFill>
                      <a:srgbClr val="FFF2CC"/>
                    </a:solidFill>
                  </a:tcPr>
                </a:tc>
              </a:tr>
              <a:tr h="486294">
                <a:tc>
                  <a:txBody>
                    <a:bodyPr/>
                    <a:lstStyle/>
                    <a:p>
                      <a:pPr algn="ctr"/>
                      <a:r>
                        <a:rPr sz="800" b="0" i="0" dirty="0">
                          <a:solidFill>
                            <a:srgbClr val="212121"/>
                          </a:solidFill>
                          <a:latin typeface="Yu Gothic"/>
                        </a:rPr>
                        <a:t>3</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err="1">
                          <a:solidFill>
                            <a:srgbClr val="212121"/>
                          </a:solidFill>
                          <a:latin typeface="Yu Gothic"/>
                        </a:rPr>
                        <a:t>ユーザーID・パスワード両方未入力</a:t>
                      </a:r>
                      <a:endParaRPr sz="760" b="0" i="0" dirty="0">
                        <a:solidFill>
                          <a:srgbClr val="212121"/>
                        </a:solidFill>
                        <a:latin typeface="Yu Gothic"/>
                      </a:endParaRP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lang="en-US" sz="700" b="0" i="0" dirty="0" smtClean="0">
                          <a:solidFill>
                            <a:srgbClr val="212121"/>
                          </a:solidFill>
                          <a:latin typeface="Yu Gothic"/>
                        </a:rPr>
                        <a:t>○</a:t>
                      </a:r>
                      <a:endParaRPr lang="en-US" sz="700" b="0" i="0" dirty="0">
                        <a:solidFill>
                          <a:srgbClr val="212121"/>
                        </a:solidFill>
                        <a:latin typeface="Yu Gothic"/>
                      </a:endParaRPr>
                    </a:p>
                  </a:txBody>
                  <a:tcPr marL="50800" marR="50800" marT="25400" marB="25400" anchor="ctr">
                    <a:lnR w="12700" cap="flat" cmpd="sng" algn="ctr">
                      <a:solidFill>
                        <a:schemeClr val="tx1"/>
                      </a:solidFill>
                      <a:prstDash val="solid"/>
                      <a:round/>
                      <a:headEnd type="none" w="med" len="med"/>
                      <a:tailEnd type="none" w="med" len="med"/>
                    </a:lnR>
                    <a:solidFill>
                      <a:schemeClr val="accent3">
                        <a:lumMod val="20000"/>
                        <a:lumOff val="80000"/>
                      </a:schemeClr>
                    </a:solidFill>
                  </a:tcPr>
                </a:tc>
              </a:tr>
              <a:tr h="486294">
                <a:tc>
                  <a:txBody>
                    <a:bodyPr/>
                    <a:lstStyle/>
                    <a:p>
                      <a:pPr algn="ctr"/>
                      <a:r>
                        <a:rPr sz="800" b="0" i="0">
                          <a:solidFill>
                            <a:srgbClr val="212121"/>
                          </a:solidFill>
                          <a:latin typeface="Yu Gothic"/>
                        </a:rPr>
                        <a:t>4</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err="1">
                          <a:solidFill>
                            <a:srgbClr val="212121"/>
                          </a:solidFill>
                          <a:latin typeface="Yu Gothic"/>
                        </a:rPr>
                        <a:t>ユーザーID・パスワードとも正しく入力（正常系</a:t>
                      </a:r>
                      <a:r>
                        <a:rPr sz="760" b="0" i="0" dirty="0">
                          <a:solidFill>
                            <a:srgbClr val="212121"/>
                          </a:solidFill>
                          <a:latin typeface="Yu Gothic"/>
                        </a:rPr>
                        <a:t>）</a:t>
                      </a: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sz="720" b="0" i="0">
                          <a:solidFill>
                            <a:srgbClr val="212121"/>
                          </a:solidFill>
                          <a:latin typeface="Yu Gothic"/>
                        </a:rPr>
                        <a:t>△</a:t>
                      </a:r>
                    </a:p>
                  </a:txBody>
                  <a:tcPr marL="50800" marR="50800" marT="25400" marB="25400" anchor="ctr">
                    <a:lnR w="12700" cap="flat" cmpd="sng" algn="ctr">
                      <a:solidFill>
                        <a:schemeClr val="tx1"/>
                      </a:solidFill>
                      <a:prstDash val="solid"/>
                      <a:round/>
                      <a:headEnd type="none" w="med" len="med"/>
                      <a:tailEnd type="none" w="med" len="med"/>
                    </a:lnR>
                    <a:solidFill>
                      <a:srgbClr val="FFF2CC"/>
                    </a:solidFill>
                  </a:tcPr>
                </a:tc>
              </a:tr>
              <a:tr h="486294">
                <a:tc>
                  <a:txBody>
                    <a:bodyPr/>
                    <a:lstStyle/>
                    <a:p>
                      <a:pPr algn="ctr"/>
                      <a:r>
                        <a:rPr sz="800" b="0" i="0">
                          <a:solidFill>
                            <a:srgbClr val="212121"/>
                          </a:solidFill>
                          <a:latin typeface="Yu Gothic"/>
                        </a:rPr>
                        <a:t>5</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a:solidFill>
                            <a:srgbClr val="212121"/>
                          </a:solidFill>
                          <a:latin typeface="Yu Gothic"/>
                        </a:rPr>
                        <a:t>ユーザーID桁数：1〜20文字が正常範囲（基本設計書 </a:t>
                      </a:r>
                      <a:r>
                        <a:rPr sz="760" b="0" i="0" dirty="0" err="1">
                          <a:solidFill>
                            <a:srgbClr val="212121"/>
                          </a:solidFill>
                          <a:latin typeface="Yu Gothic"/>
                        </a:rPr>
                        <a:t>画面項目一覧</a:t>
                      </a:r>
                      <a:r>
                        <a:rPr sz="760" b="0" i="0" dirty="0">
                          <a:solidFill>
                            <a:srgbClr val="212121"/>
                          </a:solidFill>
                          <a:latin typeface="Yu Gothic"/>
                        </a:rPr>
                        <a:t>）</a:t>
                      </a: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lang="en-US" sz="700" b="0" i="0" dirty="0" smtClean="0">
                          <a:solidFill>
                            <a:srgbClr val="212121"/>
                          </a:solidFill>
                          <a:latin typeface="Yu Gothic"/>
                        </a:rPr>
                        <a:t>○</a:t>
                      </a:r>
                      <a:endParaRPr lang="en-US" sz="700" b="0" i="0" dirty="0">
                        <a:solidFill>
                          <a:srgbClr val="212121"/>
                        </a:solidFill>
                        <a:latin typeface="Yu Gothic"/>
                      </a:endParaRPr>
                    </a:p>
                  </a:txBody>
                  <a:tcPr marL="50800" marR="50800" marT="25400" marB="25400" anchor="ctr">
                    <a:lnR w="12700" cap="flat" cmpd="sng" algn="ctr">
                      <a:solidFill>
                        <a:schemeClr val="tx1"/>
                      </a:solidFill>
                      <a:prstDash val="solid"/>
                      <a:round/>
                      <a:headEnd type="none" w="med" len="med"/>
                      <a:tailEnd type="none" w="med" len="med"/>
                    </a:lnR>
                    <a:solidFill>
                      <a:schemeClr val="accent3">
                        <a:lumMod val="20000"/>
                        <a:lumOff val="80000"/>
                      </a:schemeClr>
                    </a:solidFill>
                  </a:tcPr>
                </a:tc>
              </a:tr>
              <a:tr h="486294">
                <a:tc>
                  <a:txBody>
                    <a:bodyPr/>
                    <a:lstStyle/>
                    <a:p>
                      <a:pPr algn="ctr"/>
                      <a:r>
                        <a:rPr sz="800" b="0" i="0" dirty="0">
                          <a:solidFill>
                            <a:srgbClr val="212121"/>
                          </a:solidFill>
                          <a:latin typeface="Yu Gothic"/>
                        </a:rPr>
                        <a:t>6</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a:solidFill>
                            <a:srgbClr val="212121"/>
                          </a:solidFill>
                          <a:latin typeface="Yu Gothic"/>
                        </a:rPr>
                        <a:t>ユーザーID桁数：21文字以上でエラー（詳細設計書No.3）</a:t>
                      </a: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lang="en-US" sz="700" b="0" i="0" dirty="0" smtClean="0">
                          <a:solidFill>
                            <a:srgbClr val="212121"/>
                          </a:solidFill>
                          <a:latin typeface="Yu Gothic"/>
                        </a:rPr>
                        <a:t>○</a:t>
                      </a:r>
                      <a:endParaRPr lang="en-US" sz="700" b="0" i="0" dirty="0">
                        <a:solidFill>
                          <a:srgbClr val="212121"/>
                        </a:solidFill>
                        <a:latin typeface="Yu Gothic"/>
                      </a:endParaRPr>
                    </a:p>
                  </a:txBody>
                  <a:tcPr marL="50800" marR="50800" marT="25400" marB="25400" anchor="ctr">
                    <a:lnR w="12700" cap="flat" cmpd="sng" algn="ctr">
                      <a:solidFill>
                        <a:schemeClr val="tx1"/>
                      </a:solidFill>
                      <a:prstDash val="solid"/>
                      <a:round/>
                      <a:headEnd type="none" w="med" len="med"/>
                      <a:tailEnd type="none" w="med" len="med"/>
                    </a:lnR>
                    <a:solidFill>
                      <a:schemeClr val="accent3">
                        <a:lumMod val="20000"/>
                        <a:lumOff val="80000"/>
                      </a:schemeClr>
                    </a:solidFill>
                  </a:tcPr>
                </a:tc>
              </a:tr>
              <a:tr h="486294">
                <a:tc>
                  <a:txBody>
                    <a:bodyPr/>
                    <a:lstStyle/>
                    <a:p>
                      <a:pPr algn="ctr"/>
                      <a:r>
                        <a:rPr sz="800" b="0" i="0" dirty="0">
                          <a:solidFill>
                            <a:srgbClr val="212121"/>
                          </a:solidFill>
                          <a:latin typeface="Yu Gothic"/>
                        </a:rPr>
                        <a:t>7</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a:solidFill>
                            <a:srgbClr val="212121"/>
                          </a:solidFill>
                          <a:latin typeface="Yu Gothic"/>
                        </a:rPr>
                        <a:t>パスワード桁数：8〜20文字が正常範囲（基本設計書 </a:t>
                      </a:r>
                      <a:r>
                        <a:rPr sz="760" b="0" i="0" dirty="0" err="1">
                          <a:solidFill>
                            <a:srgbClr val="212121"/>
                          </a:solidFill>
                          <a:latin typeface="Yu Gothic"/>
                        </a:rPr>
                        <a:t>画面項目一覧</a:t>
                      </a:r>
                      <a:r>
                        <a:rPr sz="760" b="0" i="0" dirty="0">
                          <a:solidFill>
                            <a:srgbClr val="212121"/>
                          </a:solidFill>
                          <a:latin typeface="Yu Gothic"/>
                        </a:rPr>
                        <a:t>）</a:t>
                      </a: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lang="en-US" sz="700" b="0" i="0" dirty="0" smtClean="0">
                          <a:solidFill>
                            <a:srgbClr val="212121"/>
                          </a:solidFill>
                          <a:latin typeface="Yu Gothic"/>
                        </a:rPr>
                        <a:t>○</a:t>
                      </a:r>
                      <a:endParaRPr lang="en-US" sz="700" b="0" i="0" dirty="0">
                        <a:solidFill>
                          <a:srgbClr val="212121"/>
                        </a:solidFill>
                        <a:latin typeface="Yu Gothic"/>
                      </a:endParaRPr>
                    </a:p>
                  </a:txBody>
                  <a:tcPr marL="50800" marR="50800" marT="25400" marB="25400" anchor="ctr">
                    <a:lnR w="12700" cap="flat" cmpd="sng" algn="ctr">
                      <a:solidFill>
                        <a:schemeClr val="tx1"/>
                      </a:solidFill>
                      <a:prstDash val="solid"/>
                      <a:round/>
                      <a:headEnd type="none" w="med" len="med"/>
                      <a:tailEnd type="none" w="med" len="med"/>
                    </a:lnR>
                    <a:solidFill>
                      <a:schemeClr val="accent3">
                        <a:lumMod val="20000"/>
                        <a:lumOff val="80000"/>
                      </a:schemeClr>
                    </a:solidFill>
                  </a:tcPr>
                </a:tc>
              </a:tr>
              <a:tr h="486294">
                <a:tc>
                  <a:txBody>
                    <a:bodyPr/>
                    <a:lstStyle/>
                    <a:p>
                      <a:pPr algn="ctr"/>
                      <a:r>
                        <a:rPr sz="800" b="0" i="0" dirty="0">
                          <a:solidFill>
                            <a:srgbClr val="212121"/>
                          </a:solidFill>
                          <a:latin typeface="Yu Gothic"/>
                        </a:rPr>
                        <a:t>8</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a:solidFill>
                            <a:srgbClr val="212121"/>
                          </a:solidFill>
                          <a:latin typeface="Yu Gothic"/>
                        </a:rPr>
                        <a:t>パスワード桁数：7文字以下でエラー（8〜20文字要件から導出）</a:t>
                      </a: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lang="en-US" sz="700" b="0" i="0" dirty="0" smtClean="0">
                          <a:solidFill>
                            <a:srgbClr val="212121"/>
                          </a:solidFill>
                          <a:latin typeface="Yu Gothic"/>
                        </a:rPr>
                        <a:t>○</a:t>
                      </a:r>
                      <a:endParaRPr lang="en-US" sz="700" b="0" i="0" dirty="0">
                        <a:solidFill>
                          <a:srgbClr val="212121"/>
                        </a:solidFill>
                        <a:latin typeface="Yu Gothic"/>
                      </a:endParaRPr>
                    </a:p>
                  </a:txBody>
                  <a:tcPr marL="50800" marR="50800" marT="25400" marB="25400" anchor="ctr">
                    <a:lnR w="12700" cap="flat" cmpd="sng" algn="ctr">
                      <a:solidFill>
                        <a:schemeClr val="tx1"/>
                      </a:solidFill>
                      <a:prstDash val="solid"/>
                      <a:round/>
                      <a:headEnd type="none" w="med" len="med"/>
                      <a:tailEnd type="none" w="med" len="med"/>
                    </a:lnR>
                    <a:solidFill>
                      <a:schemeClr val="accent3">
                        <a:lumMod val="20000"/>
                        <a:lumOff val="80000"/>
                      </a:schemeClr>
                    </a:solidFill>
                  </a:tcPr>
                </a:tc>
              </a:tr>
              <a:tr h="486294">
                <a:tc>
                  <a:txBody>
                    <a:bodyPr/>
                    <a:lstStyle/>
                    <a:p>
                      <a:pPr algn="ctr"/>
                      <a:r>
                        <a:rPr sz="800" b="0" i="0" dirty="0">
                          <a:solidFill>
                            <a:srgbClr val="212121"/>
                          </a:solidFill>
                          <a:latin typeface="Yu Gothic"/>
                        </a:rPr>
                        <a:t>9</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a:solidFill>
                            <a:srgbClr val="212121"/>
                          </a:solidFill>
                          <a:latin typeface="Yu Gothic"/>
                        </a:rPr>
                        <a:t>パスワード桁数：21文字以上でエラー（詳細設計書No.4）</a:t>
                      </a: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lang="en-US" sz="700" b="0" i="0" dirty="0" smtClean="0">
                          <a:solidFill>
                            <a:srgbClr val="212121"/>
                          </a:solidFill>
                          <a:latin typeface="Yu Gothic"/>
                        </a:rPr>
                        <a:t>○</a:t>
                      </a:r>
                      <a:endParaRPr lang="en-US" sz="700" b="0" i="0" dirty="0">
                        <a:solidFill>
                          <a:srgbClr val="212121"/>
                        </a:solidFill>
                        <a:latin typeface="Yu Gothic"/>
                      </a:endParaRPr>
                    </a:p>
                  </a:txBody>
                  <a:tcPr marL="50800" marR="50800" marT="25400" marB="25400" anchor="ctr">
                    <a:lnR w="12700" cap="flat" cmpd="sng" algn="ctr">
                      <a:solidFill>
                        <a:schemeClr val="tx1"/>
                      </a:solidFill>
                      <a:prstDash val="solid"/>
                      <a:round/>
                      <a:headEnd type="none" w="med" len="med"/>
                      <a:tailEnd type="none" w="med" len="med"/>
                    </a:lnR>
                    <a:solidFill>
                      <a:schemeClr val="accent3">
                        <a:lumMod val="20000"/>
                        <a:lumOff val="80000"/>
                      </a:schemeClr>
                    </a:solidFill>
                  </a:tcPr>
                </a:tc>
              </a:tr>
              <a:tr h="486294">
                <a:tc>
                  <a:txBody>
                    <a:bodyPr/>
                    <a:lstStyle/>
                    <a:p>
                      <a:pPr algn="ctr"/>
                      <a:r>
                        <a:rPr sz="800" b="0" i="0" dirty="0">
                          <a:solidFill>
                            <a:srgbClr val="212121"/>
                          </a:solidFill>
                          <a:latin typeface="Yu Gothic"/>
                        </a:rPr>
                        <a:t>10</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err="1">
                          <a:solidFill>
                            <a:srgbClr val="212121"/>
                          </a:solidFill>
                          <a:latin typeface="Yu Gothic"/>
                        </a:rPr>
                        <a:t>ユーザーIDに半角英数字以外（全角等）を入力（基本設計書</a:t>
                      </a:r>
                      <a:r>
                        <a:rPr sz="760" b="0" i="0" dirty="0">
                          <a:solidFill>
                            <a:srgbClr val="212121"/>
                          </a:solidFill>
                          <a:latin typeface="Yu Gothic"/>
                        </a:rPr>
                        <a:t> </a:t>
                      </a:r>
                      <a:r>
                        <a:rPr sz="760" b="0" i="0" dirty="0" err="1">
                          <a:solidFill>
                            <a:srgbClr val="212121"/>
                          </a:solidFill>
                          <a:latin typeface="Yu Gothic"/>
                        </a:rPr>
                        <a:t>備考「半角英数字</a:t>
                      </a:r>
                      <a:r>
                        <a:rPr sz="760" b="0" i="0" dirty="0">
                          <a:solidFill>
                            <a:srgbClr val="212121"/>
                          </a:solidFill>
                          <a:latin typeface="Yu Gothic"/>
                        </a:rPr>
                        <a:t>」）</a:t>
                      </a: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sz="720" b="0" i="0" dirty="0">
                          <a:solidFill>
                            <a:srgbClr val="212121"/>
                          </a:solidFill>
                          <a:latin typeface="Yu Gothic"/>
                        </a:rPr>
                        <a:t>✗</a:t>
                      </a:r>
                    </a:p>
                  </a:txBody>
                  <a:tcPr marL="50800" marR="50800" marT="25400" marB="25400" anchor="ctr">
                    <a:lnR w="12700" cap="flat" cmpd="sng" algn="ctr">
                      <a:solidFill>
                        <a:schemeClr val="tx1"/>
                      </a:solidFill>
                      <a:prstDash val="solid"/>
                      <a:round/>
                      <a:headEnd type="none" w="med" len="med"/>
                      <a:tailEnd type="none" w="med" len="med"/>
                    </a:lnR>
                    <a:solidFill>
                      <a:srgbClr val="F8CBAD"/>
                    </a:solidFill>
                  </a:tcPr>
                </a:tc>
              </a:tr>
              <a:tr h="486294">
                <a:tc>
                  <a:txBody>
                    <a:bodyPr/>
                    <a:lstStyle/>
                    <a:p>
                      <a:pPr algn="ctr"/>
                      <a:r>
                        <a:rPr sz="800" b="0" i="0" dirty="0">
                          <a:solidFill>
                            <a:srgbClr val="212121"/>
                          </a:solidFill>
                          <a:latin typeface="Yu Gothic"/>
                        </a:rPr>
                        <a:t>11</a:t>
                      </a:r>
                    </a:p>
                  </a:txBody>
                  <a:tcPr marL="50800" marR="50800" marT="25400" marB="254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FF"/>
                    </a:solidFill>
                  </a:tcPr>
                </a:tc>
                <a:tc>
                  <a:txBody>
                    <a:bodyPr/>
                    <a:lstStyle/>
                    <a:p>
                      <a:pPr algn="l"/>
                      <a:r>
                        <a:rPr sz="760" b="0" i="0" dirty="0" err="1">
                          <a:solidFill>
                            <a:srgbClr val="212121"/>
                          </a:solidFill>
                          <a:latin typeface="Yu Gothic"/>
                        </a:rPr>
                        <a:t>パスワードに半角英数字・記号以外を入力（基本設計書</a:t>
                      </a:r>
                      <a:r>
                        <a:rPr sz="760" b="0" i="0" dirty="0">
                          <a:solidFill>
                            <a:srgbClr val="212121"/>
                          </a:solidFill>
                          <a:latin typeface="Yu Gothic"/>
                        </a:rPr>
                        <a:t> </a:t>
                      </a:r>
                      <a:r>
                        <a:rPr sz="760" b="0" i="0" dirty="0" err="1">
                          <a:solidFill>
                            <a:srgbClr val="212121"/>
                          </a:solidFill>
                          <a:latin typeface="Yu Gothic"/>
                        </a:rPr>
                        <a:t>備考「半角英数字・記号</a:t>
                      </a:r>
                      <a:r>
                        <a:rPr sz="760" b="0" i="0" dirty="0">
                          <a:solidFill>
                            <a:srgbClr val="212121"/>
                          </a:solidFill>
                          <a:latin typeface="Yu Gothic"/>
                        </a:rPr>
                        <a:t>」）</a:t>
                      </a:r>
                    </a:p>
                  </a:txBody>
                  <a:tcPr marL="50800" marR="50800" marT="25400" marB="25400" anchor="ctr">
                    <a:lnB w="12700" cap="flat" cmpd="sng" algn="ctr">
                      <a:solidFill>
                        <a:schemeClr val="tx1"/>
                      </a:solidFill>
                      <a:prstDash val="solid"/>
                      <a:round/>
                      <a:headEnd type="none" w="med" len="med"/>
                      <a:tailEnd type="none" w="med" len="med"/>
                    </a:lnB>
                    <a:solidFill>
                      <a:srgbClr val="FFFFFF"/>
                    </a:solidFill>
                  </a:tcPr>
                </a:tc>
                <a:tc>
                  <a:txBody>
                    <a:bodyPr/>
                    <a:lstStyle/>
                    <a:p>
                      <a:pPr algn="ctr"/>
                      <a:r>
                        <a:rPr sz="760" b="0" i="0" dirty="0">
                          <a:solidFill>
                            <a:srgbClr val="212121"/>
                          </a:solidFill>
                          <a:latin typeface="Yu Gothic"/>
                        </a:rPr>
                        <a:t>○</a:t>
                      </a:r>
                    </a:p>
                  </a:txBody>
                  <a:tcPr marL="50800" marR="50800" marT="25400" marB="25400" anchor="ctr">
                    <a:lnB w="12700" cap="flat" cmpd="sng" algn="ctr">
                      <a:solidFill>
                        <a:schemeClr val="tx1"/>
                      </a:solidFill>
                      <a:prstDash val="solid"/>
                      <a:round/>
                      <a:headEnd type="none" w="med" len="med"/>
                      <a:tailEnd type="none" w="med" len="med"/>
                    </a:lnB>
                    <a:solidFill>
                      <a:srgbClr val="E2EFDA"/>
                    </a:solidFill>
                  </a:tcPr>
                </a:tc>
                <a:tc>
                  <a:txBody>
                    <a:bodyPr/>
                    <a:lstStyle/>
                    <a:p>
                      <a:pPr algn="ctr"/>
                      <a:r>
                        <a:rPr sz="720" b="0" i="0" dirty="0">
                          <a:solidFill>
                            <a:srgbClr val="212121"/>
                          </a:solidFill>
                          <a:latin typeface="Yu Gothic"/>
                        </a:rPr>
                        <a:t>✗</a:t>
                      </a:r>
                    </a:p>
                  </a:txBody>
                  <a:tcPr marL="50800" marR="50800" marT="25400" marB="254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8CBAD"/>
                    </a:solidFill>
                  </a:tcPr>
                </a:tc>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2522057796"/>
              </p:ext>
            </p:extLst>
          </p:nvPr>
        </p:nvGraphicFramePr>
        <p:xfrm>
          <a:off x="6080760" y="960120"/>
          <a:ext cx="5852159" cy="5623560"/>
        </p:xfrm>
        <a:graphic>
          <a:graphicData uri="http://schemas.openxmlformats.org/drawingml/2006/table">
            <a:tbl>
              <a:tblPr firstRow="1" bandRow="1">
                <a:tableStyleId>{5C22544A-7EE6-4342-B048-85BDC9FD1C3A}</a:tableStyleId>
              </a:tblPr>
              <a:tblGrid>
                <a:gridCol w="411480"/>
                <a:gridCol w="3428999"/>
                <a:gridCol w="1005840"/>
                <a:gridCol w="1005840"/>
              </a:tblGrid>
              <a:tr h="274320">
                <a:tc>
                  <a:txBody>
                    <a:bodyPr/>
                    <a:lstStyle/>
                    <a:p>
                      <a:pPr algn="ctr"/>
                      <a:r>
                        <a:rPr sz="950" b="1" i="0" dirty="0">
                          <a:solidFill>
                            <a:srgbClr val="FFFFFF"/>
                          </a:solidFill>
                          <a:latin typeface="Yu Gothic"/>
                        </a:rPr>
                        <a:t>No</a:t>
                      </a:r>
                    </a:p>
                  </a:txBody>
                  <a:tcPr marL="50800" marR="50800" marT="25400" marB="254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1F3864"/>
                    </a:solidFill>
                  </a:tcPr>
                </a:tc>
                <a:tc>
                  <a:txBody>
                    <a:bodyPr/>
                    <a:lstStyle/>
                    <a:p>
                      <a:pPr algn="l"/>
                      <a:r>
                        <a:rPr sz="950" b="1" i="0">
                          <a:solidFill>
                            <a:srgbClr val="FFFFFF"/>
                          </a:solidFill>
                          <a:latin typeface="Yu Gothic"/>
                        </a:rPr>
                        <a:t>評価観点</a:t>
                      </a:r>
                    </a:p>
                  </a:txBody>
                  <a:tcPr marL="50800" marR="50800" marT="25400" marB="25400" anchor="ctr">
                    <a:lnT w="12700" cap="flat" cmpd="sng" algn="ctr">
                      <a:solidFill>
                        <a:schemeClr val="tx1"/>
                      </a:solidFill>
                      <a:prstDash val="solid"/>
                      <a:round/>
                      <a:headEnd type="none" w="med" len="med"/>
                      <a:tailEnd type="none" w="med" len="med"/>
                    </a:lnT>
                    <a:solidFill>
                      <a:srgbClr val="1F3864"/>
                    </a:solidFill>
                  </a:tcPr>
                </a:tc>
                <a:tc>
                  <a:txBody>
                    <a:bodyPr/>
                    <a:lstStyle/>
                    <a:p>
                      <a:pPr algn="ctr"/>
                      <a:r>
                        <a:rPr sz="950" b="1" i="0" dirty="0">
                          <a:solidFill>
                            <a:srgbClr val="FFFFFF"/>
                          </a:solidFill>
                          <a:latin typeface="Yu Gothic"/>
                        </a:rPr>
                        <a:t>OpenAI</a:t>
                      </a:r>
                    </a:p>
                  </a:txBody>
                  <a:tcPr marL="50800" marR="50800" marT="25400" marB="25400" anchor="ctr">
                    <a:lnT w="12700" cap="flat" cmpd="sng" algn="ctr">
                      <a:solidFill>
                        <a:schemeClr val="tx1"/>
                      </a:solidFill>
                      <a:prstDash val="solid"/>
                      <a:round/>
                      <a:headEnd type="none" w="med" len="med"/>
                      <a:tailEnd type="none" w="med" len="med"/>
                    </a:lnT>
                    <a:solidFill>
                      <a:srgbClr val="1F3864"/>
                    </a:solidFill>
                  </a:tcPr>
                </a:tc>
                <a:tc>
                  <a:txBody>
                    <a:bodyPr/>
                    <a:lstStyle/>
                    <a:p>
                      <a:pPr algn="ctr"/>
                      <a:r>
                        <a:rPr sz="950" b="1" i="0">
                          <a:solidFill>
                            <a:srgbClr val="FFFFFF"/>
                          </a:solidFill>
                          <a:latin typeface="Yu Gothic"/>
                        </a:rPr>
                        <a:t>Copilot</a:t>
                      </a:r>
                    </a:p>
                  </a:txBody>
                  <a:tcPr marL="50800" marR="50800" marT="25400" marB="254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1F3864"/>
                    </a:solidFill>
                  </a:tcPr>
                </a:tc>
              </a:tr>
              <a:tr h="534924">
                <a:tc>
                  <a:txBody>
                    <a:bodyPr/>
                    <a:lstStyle/>
                    <a:p>
                      <a:pPr algn="ctr"/>
                      <a:r>
                        <a:rPr sz="800" b="0" i="0" dirty="0">
                          <a:solidFill>
                            <a:srgbClr val="212121"/>
                          </a:solidFill>
                          <a:latin typeface="Yu Gothic"/>
                        </a:rPr>
                        <a:t>12</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a:solidFill>
                            <a:srgbClr val="212121"/>
                          </a:solidFill>
                          <a:latin typeface="Yu Gothic"/>
                        </a:rPr>
                        <a:t>存在しないユーザーでの認証チェック（詳細設計書No.5）</a:t>
                      </a:r>
                    </a:p>
                  </a:txBody>
                  <a:tcPr marL="50800" marR="50800" marT="25400" marB="25400" anchor="ctr">
                    <a:solidFill>
                      <a:srgbClr val="FFFFFF"/>
                    </a:solidFill>
                  </a:tcPr>
                </a:tc>
                <a:tc>
                  <a:txBody>
                    <a:bodyPr/>
                    <a:lstStyle/>
                    <a:p>
                      <a:pPr algn="ctr"/>
                      <a:r>
                        <a:rPr sz="760" b="0" i="0">
                          <a:solidFill>
                            <a:srgbClr val="212121"/>
                          </a:solidFill>
                          <a:latin typeface="Yu Gothic"/>
                        </a:rPr>
                        <a:t>○</a:t>
                      </a:r>
                    </a:p>
                  </a:txBody>
                  <a:tcPr marL="50800" marR="50800" marT="25400" marB="25400" anchor="ctr">
                    <a:solidFill>
                      <a:srgbClr val="E2EFDA"/>
                    </a:solidFill>
                  </a:tcPr>
                </a:tc>
                <a:tc>
                  <a:txBody>
                    <a:bodyPr/>
                    <a:lstStyle/>
                    <a:p>
                      <a:pPr algn="ctr"/>
                      <a:r>
                        <a:rPr sz="720" b="0" i="0">
                          <a:solidFill>
                            <a:srgbClr val="212121"/>
                          </a:solidFill>
                          <a:latin typeface="Yu Gothic"/>
                        </a:rPr>
                        <a:t>✗</a:t>
                      </a:r>
                    </a:p>
                  </a:txBody>
                  <a:tcPr marL="50800" marR="50800" marT="25400" marB="25400" anchor="ctr">
                    <a:lnR w="12700" cap="flat" cmpd="sng" algn="ctr">
                      <a:solidFill>
                        <a:schemeClr val="tx1"/>
                      </a:solidFill>
                      <a:prstDash val="solid"/>
                      <a:round/>
                      <a:headEnd type="none" w="med" len="med"/>
                      <a:tailEnd type="none" w="med" len="med"/>
                    </a:lnR>
                    <a:solidFill>
                      <a:srgbClr val="F8CBAD"/>
                    </a:solidFill>
                  </a:tcPr>
                </a:tc>
              </a:tr>
              <a:tr h="534924">
                <a:tc>
                  <a:txBody>
                    <a:bodyPr/>
                    <a:lstStyle/>
                    <a:p>
                      <a:pPr algn="ctr"/>
                      <a:r>
                        <a:rPr sz="800" b="0" i="0">
                          <a:solidFill>
                            <a:srgbClr val="212121"/>
                          </a:solidFill>
                          <a:latin typeface="Yu Gothic"/>
                        </a:rPr>
                        <a:t>13</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err="1">
                          <a:solidFill>
                            <a:srgbClr val="212121"/>
                          </a:solidFill>
                          <a:latin typeface="Yu Gothic"/>
                        </a:rPr>
                        <a:t>認証失敗時のエラーメッセージ表示（基本設計書</a:t>
                      </a:r>
                      <a:r>
                        <a:rPr sz="760" b="0" i="0" dirty="0">
                          <a:solidFill>
                            <a:srgbClr val="212121"/>
                          </a:solidFill>
                          <a:latin typeface="Yu Gothic"/>
                        </a:rPr>
                        <a:t> </a:t>
                      </a:r>
                      <a:r>
                        <a:rPr sz="760" b="0" i="0" dirty="0" err="1">
                          <a:solidFill>
                            <a:srgbClr val="212121"/>
                          </a:solidFill>
                          <a:latin typeface="Yu Gothic"/>
                        </a:rPr>
                        <a:t>エラーメッセージ一覧</a:t>
                      </a:r>
                      <a:r>
                        <a:rPr sz="760" b="0" i="0" dirty="0">
                          <a:solidFill>
                            <a:srgbClr val="212121"/>
                          </a:solidFill>
                          <a:latin typeface="Yu Gothic"/>
                        </a:rPr>
                        <a:t>）</a:t>
                      </a:r>
                    </a:p>
                  </a:txBody>
                  <a:tcPr marL="50800" marR="50800" marT="25400" marB="25400" anchor="ctr">
                    <a:solidFill>
                      <a:srgbClr val="FFFFFF"/>
                    </a:solidFill>
                  </a:tcPr>
                </a:tc>
                <a:tc>
                  <a:txBody>
                    <a:bodyPr/>
                    <a:lstStyle/>
                    <a:p>
                      <a:pPr algn="ctr"/>
                      <a:r>
                        <a:rPr sz="760" b="0" i="0">
                          <a:solidFill>
                            <a:srgbClr val="212121"/>
                          </a:solidFill>
                          <a:latin typeface="Yu Gothic"/>
                        </a:rPr>
                        <a:t>△</a:t>
                      </a:r>
                    </a:p>
                  </a:txBody>
                  <a:tcPr marL="50800" marR="50800" marT="25400" marB="25400" anchor="ctr">
                    <a:solidFill>
                      <a:srgbClr val="FFF2CC"/>
                    </a:solidFill>
                  </a:tcPr>
                </a:tc>
                <a:tc>
                  <a:txBody>
                    <a:bodyPr/>
                    <a:lstStyle/>
                    <a:p>
                      <a:pPr algn="ctr"/>
                      <a:r>
                        <a:rPr sz="720" b="0" i="0">
                          <a:solidFill>
                            <a:srgbClr val="212121"/>
                          </a:solidFill>
                          <a:latin typeface="Yu Gothic"/>
                        </a:rPr>
                        <a:t>△</a:t>
                      </a:r>
                    </a:p>
                  </a:txBody>
                  <a:tcPr marL="50800" marR="50800" marT="25400" marB="25400" anchor="ctr">
                    <a:lnR w="12700" cap="flat" cmpd="sng" algn="ctr">
                      <a:solidFill>
                        <a:schemeClr val="tx1"/>
                      </a:solidFill>
                      <a:prstDash val="solid"/>
                      <a:round/>
                      <a:headEnd type="none" w="med" len="med"/>
                      <a:tailEnd type="none" w="med" len="med"/>
                    </a:lnR>
                    <a:solidFill>
                      <a:srgbClr val="FFF2CC"/>
                    </a:solidFill>
                  </a:tcPr>
                </a:tc>
              </a:tr>
              <a:tr h="534924">
                <a:tc>
                  <a:txBody>
                    <a:bodyPr/>
                    <a:lstStyle/>
                    <a:p>
                      <a:pPr algn="ctr"/>
                      <a:r>
                        <a:rPr sz="800" b="0" i="0">
                          <a:solidFill>
                            <a:srgbClr val="212121"/>
                          </a:solidFill>
                          <a:latin typeface="Yu Gothic"/>
                        </a:rPr>
                        <a:t>14</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err="1">
                          <a:solidFill>
                            <a:srgbClr val="212121"/>
                          </a:solidFill>
                          <a:latin typeface="Yu Gothic"/>
                        </a:rPr>
                        <a:t>認証成功時：メニュー画面遷移（基本設計書</a:t>
                      </a:r>
                      <a:r>
                        <a:rPr sz="760" b="0" i="0" dirty="0">
                          <a:solidFill>
                            <a:srgbClr val="212121"/>
                          </a:solidFill>
                          <a:latin typeface="Yu Gothic"/>
                        </a:rPr>
                        <a:t> </a:t>
                      </a:r>
                      <a:r>
                        <a:rPr sz="760" b="0" i="0" dirty="0" err="1">
                          <a:solidFill>
                            <a:srgbClr val="212121"/>
                          </a:solidFill>
                          <a:latin typeface="Yu Gothic"/>
                        </a:rPr>
                        <a:t>機能概要／詳細設計書</a:t>
                      </a:r>
                      <a:r>
                        <a:rPr sz="760" b="0" i="0" dirty="0">
                          <a:solidFill>
                            <a:srgbClr val="212121"/>
                          </a:solidFill>
                          <a:latin typeface="Yu Gothic"/>
                        </a:rPr>
                        <a:t>⑦）</a:t>
                      </a:r>
                    </a:p>
                  </a:txBody>
                  <a:tcPr marL="50800" marR="50800" marT="25400" marB="25400" anchor="ctr">
                    <a:solidFill>
                      <a:srgbClr val="FFFFFF"/>
                    </a:solidFill>
                  </a:tcPr>
                </a:tc>
                <a:tc>
                  <a:txBody>
                    <a:bodyPr/>
                    <a:lstStyle/>
                    <a:p>
                      <a:pPr algn="ctr"/>
                      <a:r>
                        <a:rPr sz="760" b="0" i="0">
                          <a:solidFill>
                            <a:srgbClr val="212121"/>
                          </a:solidFill>
                          <a:latin typeface="Yu Gothic"/>
                        </a:rPr>
                        <a:t>△</a:t>
                      </a:r>
                    </a:p>
                  </a:txBody>
                  <a:tcPr marL="50800" marR="50800" marT="25400" marB="25400" anchor="ctr">
                    <a:solidFill>
                      <a:srgbClr val="FFF2CC"/>
                    </a:solidFill>
                  </a:tcPr>
                </a:tc>
                <a:tc>
                  <a:txBody>
                    <a:bodyPr/>
                    <a:lstStyle/>
                    <a:p>
                      <a:pPr algn="ctr"/>
                      <a:r>
                        <a:rPr sz="720" b="0" i="0">
                          <a:solidFill>
                            <a:srgbClr val="212121"/>
                          </a:solidFill>
                          <a:latin typeface="Yu Gothic"/>
                        </a:rPr>
                        <a:t>△</a:t>
                      </a:r>
                    </a:p>
                  </a:txBody>
                  <a:tcPr marL="50800" marR="50800" marT="25400" marB="25400" anchor="ctr">
                    <a:lnR w="12700" cap="flat" cmpd="sng" algn="ctr">
                      <a:solidFill>
                        <a:schemeClr val="tx1"/>
                      </a:solidFill>
                      <a:prstDash val="solid"/>
                      <a:round/>
                      <a:headEnd type="none" w="med" len="med"/>
                      <a:tailEnd type="none" w="med" len="med"/>
                    </a:lnR>
                    <a:solidFill>
                      <a:srgbClr val="FFF2CC"/>
                    </a:solidFill>
                  </a:tcPr>
                </a:tc>
              </a:tr>
              <a:tr h="534924">
                <a:tc>
                  <a:txBody>
                    <a:bodyPr/>
                    <a:lstStyle/>
                    <a:p>
                      <a:pPr algn="ctr"/>
                      <a:r>
                        <a:rPr sz="800" b="0" i="0">
                          <a:solidFill>
                            <a:srgbClr val="212121"/>
                          </a:solidFill>
                          <a:latin typeface="Yu Gothic"/>
                        </a:rPr>
                        <a:t>15</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a:solidFill>
                            <a:srgbClr val="212121"/>
                          </a:solidFill>
                          <a:latin typeface="Yu Gothic"/>
                        </a:rPr>
                        <a:t>アカウントロック境界値：4回目は非ロック（基本設計書 業務ルール「5回連続」）</a:t>
                      </a:r>
                    </a:p>
                  </a:txBody>
                  <a:tcPr marL="50800" marR="50800" marT="25400" marB="25400" anchor="ctr">
                    <a:solidFill>
                      <a:srgbClr val="FFFFFF"/>
                    </a:solidFill>
                  </a:tcPr>
                </a:tc>
                <a:tc>
                  <a:txBody>
                    <a:bodyPr/>
                    <a:lstStyle/>
                    <a:p>
                      <a:pPr algn="ctr"/>
                      <a:r>
                        <a:rPr sz="760" b="0" i="0">
                          <a:solidFill>
                            <a:srgbClr val="212121"/>
                          </a:solidFill>
                          <a:latin typeface="Yu Gothic"/>
                        </a:rPr>
                        <a:t>○</a:t>
                      </a:r>
                    </a:p>
                  </a:txBody>
                  <a:tcPr marL="50800" marR="50800" marT="25400" marB="25400" anchor="ctr">
                    <a:solidFill>
                      <a:srgbClr val="E2EFDA"/>
                    </a:solidFill>
                  </a:tcPr>
                </a:tc>
                <a:tc>
                  <a:txBody>
                    <a:bodyPr/>
                    <a:lstStyle/>
                    <a:p>
                      <a:pPr algn="ctr"/>
                      <a:r>
                        <a:rPr lang="en-US" sz="700" b="0" i="0" dirty="0" smtClean="0">
                          <a:solidFill>
                            <a:srgbClr val="212121"/>
                          </a:solidFill>
                          <a:latin typeface="Yu Gothic"/>
                        </a:rPr>
                        <a:t>○</a:t>
                      </a:r>
                      <a:endParaRPr lang="en-US" sz="700" b="0" i="0" dirty="0">
                        <a:solidFill>
                          <a:srgbClr val="212121"/>
                        </a:solidFill>
                        <a:latin typeface="Yu Gothic"/>
                      </a:endParaRPr>
                    </a:p>
                  </a:txBody>
                  <a:tcPr marL="50800" marR="50800" marT="25400" marB="25400" anchor="ctr">
                    <a:lnR w="12700" cap="flat" cmpd="sng" algn="ctr">
                      <a:solidFill>
                        <a:schemeClr val="tx1"/>
                      </a:solidFill>
                      <a:prstDash val="solid"/>
                      <a:round/>
                      <a:headEnd type="none" w="med" len="med"/>
                      <a:tailEnd type="none" w="med" len="med"/>
                    </a:lnR>
                    <a:solidFill>
                      <a:schemeClr val="accent3">
                        <a:lumMod val="20000"/>
                        <a:lumOff val="80000"/>
                      </a:schemeClr>
                    </a:solidFill>
                  </a:tcPr>
                </a:tc>
              </a:tr>
              <a:tr h="534924">
                <a:tc>
                  <a:txBody>
                    <a:bodyPr/>
                    <a:lstStyle/>
                    <a:p>
                      <a:pPr algn="ctr"/>
                      <a:r>
                        <a:rPr sz="800" b="0" i="0">
                          <a:solidFill>
                            <a:srgbClr val="212121"/>
                          </a:solidFill>
                          <a:latin typeface="Yu Gothic"/>
                        </a:rPr>
                        <a:t>16</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a:solidFill>
                            <a:srgbClr val="212121"/>
                          </a:solidFill>
                          <a:latin typeface="Yu Gothic"/>
                        </a:rPr>
                        <a:t>アカウントロック境界値：5回目でロック</a:t>
                      </a: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lang="en-US" sz="700" b="0" i="0" dirty="0" smtClean="0">
                          <a:solidFill>
                            <a:srgbClr val="212121"/>
                          </a:solidFill>
                          <a:latin typeface="Yu Gothic"/>
                        </a:rPr>
                        <a:t>○</a:t>
                      </a:r>
                      <a:endParaRPr lang="en-US" sz="700" b="0" i="0" dirty="0">
                        <a:solidFill>
                          <a:srgbClr val="212121"/>
                        </a:solidFill>
                        <a:latin typeface="Yu Gothic"/>
                      </a:endParaRPr>
                    </a:p>
                  </a:txBody>
                  <a:tcPr marL="50800" marR="50800" marT="25400" marB="25400" anchor="ctr">
                    <a:lnR w="12700" cap="flat" cmpd="sng" algn="ctr">
                      <a:solidFill>
                        <a:schemeClr val="tx1"/>
                      </a:solidFill>
                      <a:prstDash val="solid"/>
                      <a:round/>
                      <a:headEnd type="none" w="med" len="med"/>
                      <a:tailEnd type="none" w="med" len="med"/>
                    </a:lnR>
                    <a:solidFill>
                      <a:schemeClr val="accent3">
                        <a:lumMod val="20000"/>
                        <a:lumOff val="80000"/>
                      </a:schemeClr>
                    </a:solidFill>
                  </a:tcPr>
                </a:tc>
              </a:tr>
              <a:tr h="534924">
                <a:tc>
                  <a:txBody>
                    <a:bodyPr/>
                    <a:lstStyle/>
                    <a:p>
                      <a:pPr algn="ctr"/>
                      <a:r>
                        <a:rPr sz="800" b="0" i="0">
                          <a:solidFill>
                            <a:srgbClr val="212121"/>
                          </a:solidFill>
                          <a:latin typeface="Yu Gothic"/>
                        </a:rPr>
                        <a:t>17</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a:solidFill>
                            <a:srgbClr val="212121"/>
                          </a:solidFill>
                          <a:latin typeface="Yu Gothic"/>
                        </a:rPr>
                        <a:t>ロック後の再ログイン試行</a:t>
                      </a: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lang="en-US" sz="700" b="0" i="0" dirty="0" smtClean="0">
                          <a:solidFill>
                            <a:srgbClr val="212121"/>
                          </a:solidFill>
                          <a:latin typeface="Yu Gothic"/>
                        </a:rPr>
                        <a:t>○</a:t>
                      </a:r>
                      <a:endParaRPr lang="en-US" sz="700" b="0" i="0" dirty="0">
                        <a:solidFill>
                          <a:srgbClr val="212121"/>
                        </a:solidFill>
                        <a:latin typeface="Yu Gothic"/>
                      </a:endParaRPr>
                    </a:p>
                  </a:txBody>
                  <a:tcPr marL="50800" marR="50800" marT="25400" marB="25400" anchor="ctr">
                    <a:lnR w="12700" cap="flat" cmpd="sng" algn="ctr">
                      <a:solidFill>
                        <a:schemeClr val="tx1"/>
                      </a:solidFill>
                      <a:prstDash val="solid"/>
                      <a:round/>
                      <a:headEnd type="none" w="med" len="med"/>
                      <a:tailEnd type="none" w="med" len="med"/>
                    </a:lnR>
                    <a:solidFill>
                      <a:schemeClr val="accent3">
                        <a:lumMod val="20000"/>
                        <a:lumOff val="80000"/>
                      </a:schemeClr>
                    </a:solidFill>
                  </a:tcPr>
                </a:tc>
              </a:tr>
              <a:tr h="534924">
                <a:tc>
                  <a:txBody>
                    <a:bodyPr/>
                    <a:lstStyle/>
                    <a:p>
                      <a:pPr algn="ctr"/>
                      <a:r>
                        <a:rPr sz="800" b="0" i="0">
                          <a:solidFill>
                            <a:srgbClr val="212121"/>
                          </a:solidFill>
                          <a:latin typeface="Yu Gothic"/>
                        </a:rPr>
                        <a:t>18</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a:solidFill>
                            <a:srgbClr val="212121"/>
                          </a:solidFill>
                          <a:latin typeface="Yu Gothic"/>
                        </a:rPr>
                        <a:t>ロック時のエラーメッセージ表示（基本設計書 エラーメッセージ一覧）</a:t>
                      </a: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sz="720" b="0" i="0" dirty="0">
                          <a:solidFill>
                            <a:srgbClr val="212121"/>
                          </a:solidFill>
                          <a:latin typeface="Yu Gothic"/>
                        </a:rPr>
                        <a:t>✗</a:t>
                      </a:r>
                    </a:p>
                  </a:txBody>
                  <a:tcPr marL="50800" marR="50800" marT="25400" marB="25400" anchor="ctr">
                    <a:lnR w="12700" cap="flat" cmpd="sng" algn="ctr">
                      <a:solidFill>
                        <a:schemeClr val="tx1"/>
                      </a:solidFill>
                      <a:prstDash val="solid"/>
                      <a:round/>
                      <a:headEnd type="none" w="med" len="med"/>
                      <a:tailEnd type="none" w="med" len="med"/>
                    </a:lnR>
                    <a:solidFill>
                      <a:srgbClr val="F8CBAD"/>
                    </a:solidFill>
                  </a:tcPr>
                </a:tc>
              </a:tr>
              <a:tr h="534924">
                <a:tc>
                  <a:txBody>
                    <a:bodyPr/>
                    <a:lstStyle/>
                    <a:p>
                      <a:pPr algn="ctr"/>
                      <a:r>
                        <a:rPr sz="800" b="0" i="0">
                          <a:solidFill>
                            <a:srgbClr val="212121"/>
                          </a:solidFill>
                          <a:latin typeface="Yu Gothic"/>
                        </a:rPr>
                        <a:t>19</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a:solidFill>
                            <a:srgbClr val="212121"/>
                          </a:solidFill>
                          <a:latin typeface="Yu Gothic"/>
                        </a:rPr>
                        <a:t>userオブジェクトNULL時：システムエラーE9999（詳細設計書No.6／サンプルソース）</a:t>
                      </a:r>
                    </a:p>
                  </a:txBody>
                  <a:tcPr marL="50800" marR="50800" marT="25400" marB="25400" anchor="ctr">
                    <a:solidFill>
                      <a:srgbClr val="FFFFFF"/>
                    </a:solidFill>
                  </a:tcPr>
                </a:tc>
                <a:tc>
                  <a:txBody>
                    <a:bodyPr/>
                    <a:lstStyle/>
                    <a:p>
                      <a:pPr algn="ctr"/>
                      <a:r>
                        <a:rPr sz="760" b="0" i="0" dirty="0">
                          <a:solidFill>
                            <a:srgbClr val="212121"/>
                          </a:solidFill>
                          <a:latin typeface="Yu Gothic"/>
                        </a:rPr>
                        <a:t>○</a:t>
                      </a:r>
                    </a:p>
                  </a:txBody>
                  <a:tcPr marL="50800" marR="50800" marT="25400" marB="25400" anchor="ctr">
                    <a:solidFill>
                      <a:srgbClr val="E2EFDA"/>
                    </a:solidFill>
                  </a:tcPr>
                </a:tc>
                <a:tc>
                  <a:txBody>
                    <a:bodyPr/>
                    <a:lstStyle/>
                    <a:p>
                      <a:pPr algn="ctr"/>
                      <a:r>
                        <a:rPr lang="en-US" sz="700" b="0" i="0" dirty="0" smtClean="0">
                          <a:solidFill>
                            <a:srgbClr val="212121"/>
                          </a:solidFill>
                          <a:latin typeface="Yu Gothic"/>
                        </a:rPr>
                        <a:t>○</a:t>
                      </a:r>
                      <a:endParaRPr lang="en-US" sz="700" b="0" i="0" dirty="0">
                        <a:solidFill>
                          <a:srgbClr val="212121"/>
                        </a:solidFill>
                        <a:latin typeface="Yu Gothic"/>
                      </a:endParaRPr>
                    </a:p>
                  </a:txBody>
                  <a:tcPr marL="50800" marR="50800" marT="25400" marB="25400" anchor="ctr">
                    <a:lnR w="12700" cap="flat" cmpd="sng" algn="ctr">
                      <a:solidFill>
                        <a:schemeClr val="tx1"/>
                      </a:solidFill>
                      <a:prstDash val="solid"/>
                      <a:round/>
                      <a:headEnd type="none" w="med" len="med"/>
                      <a:tailEnd type="none" w="med" len="med"/>
                    </a:lnR>
                    <a:solidFill>
                      <a:schemeClr val="accent3">
                        <a:lumMod val="20000"/>
                        <a:lumOff val="80000"/>
                      </a:schemeClr>
                    </a:solidFill>
                  </a:tcPr>
                </a:tc>
              </a:tr>
              <a:tr h="534924">
                <a:tc>
                  <a:txBody>
                    <a:bodyPr/>
                    <a:lstStyle/>
                    <a:p>
                      <a:pPr algn="ctr"/>
                      <a:r>
                        <a:rPr sz="800" b="0" i="0">
                          <a:solidFill>
                            <a:srgbClr val="212121"/>
                          </a:solidFill>
                          <a:latin typeface="Yu Gothic"/>
                        </a:rPr>
                        <a:t>20</a:t>
                      </a:r>
                    </a:p>
                  </a:txBody>
                  <a:tcPr marL="50800" marR="50800" marT="25400" marB="25400" anchor="ctr">
                    <a:lnL w="12700" cap="flat" cmpd="sng" algn="ctr">
                      <a:solidFill>
                        <a:schemeClr val="tx1"/>
                      </a:solidFill>
                      <a:prstDash val="solid"/>
                      <a:round/>
                      <a:headEnd type="none" w="med" len="med"/>
                      <a:tailEnd type="none" w="med" len="med"/>
                    </a:lnL>
                    <a:solidFill>
                      <a:srgbClr val="FFFFFF"/>
                    </a:solidFill>
                  </a:tcPr>
                </a:tc>
                <a:tc>
                  <a:txBody>
                    <a:bodyPr/>
                    <a:lstStyle/>
                    <a:p>
                      <a:pPr algn="l"/>
                      <a:r>
                        <a:rPr sz="760" b="0" i="0" dirty="0" err="1">
                          <a:solidFill>
                            <a:srgbClr val="212121"/>
                          </a:solidFill>
                          <a:latin typeface="Yu Gothic"/>
                        </a:rPr>
                        <a:t>システムエラー時の共通エラー画面表示（基本設計書</a:t>
                      </a:r>
                      <a:r>
                        <a:rPr sz="760" b="0" i="0" dirty="0">
                          <a:solidFill>
                            <a:srgbClr val="212121"/>
                          </a:solidFill>
                          <a:latin typeface="Yu Gothic"/>
                        </a:rPr>
                        <a:t> </a:t>
                      </a:r>
                      <a:r>
                        <a:rPr sz="760" b="0" i="0" dirty="0" err="1">
                          <a:solidFill>
                            <a:srgbClr val="212121"/>
                          </a:solidFill>
                          <a:latin typeface="Yu Gothic"/>
                        </a:rPr>
                        <a:t>業務ルール</a:t>
                      </a:r>
                      <a:r>
                        <a:rPr sz="760" b="0" i="0" dirty="0">
                          <a:solidFill>
                            <a:srgbClr val="212121"/>
                          </a:solidFill>
                          <a:latin typeface="Yu Gothic"/>
                        </a:rPr>
                        <a:t>）</a:t>
                      </a:r>
                    </a:p>
                  </a:txBody>
                  <a:tcPr marL="50800" marR="50800" marT="25400" marB="25400" anchor="ctr">
                    <a:solidFill>
                      <a:srgbClr val="FFFFFF"/>
                    </a:solidFill>
                  </a:tcPr>
                </a:tc>
                <a:tc>
                  <a:txBody>
                    <a:bodyPr/>
                    <a:lstStyle/>
                    <a:p>
                      <a:pPr algn="ctr"/>
                      <a:r>
                        <a:rPr sz="760" b="0" i="0">
                          <a:solidFill>
                            <a:srgbClr val="212121"/>
                          </a:solidFill>
                          <a:latin typeface="Yu Gothic"/>
                        </a:rPr>
                        <a:t>○</a:t>
                      </a:r>
                    </a:p>
                  </a:txBody>
                  <a:tcPr marL="50800" marR="50800" marT="25400" marB="25400" anchor="ctr">
                    <a:solidFill>
                      <a:srgbClr val="E2EFDA"/>
                    </a:solidFill>
                  </a:tcPr>
                </a:tc>
                <a:tc>
                  <a:txBody>
                    <a:bodyPr/>
                    <a:lstStyle/>
                    <a:p>
                      <a:pPr algn="ctr"/>
                      <a:r>
                        <a:rPr sz="720" b="0" i="0" dirty="0">
                          <a:solidFill>
                            <a:srgbClr val="212121"/>
                          </a:solidFill>
                          <a:latin typeface="Yu Gothic"/>
                        </a:rPr>
                        <a:t>△</a:t>
                      </a:r>
                    </a:p>
                  </a:txBody>
                  <a:tcPr marL="50800" marR="50800" marT="25400" marB="25400" anchor="ctr">
                    <a:lnR w="12700" cap="flat" cmpd="sng" algn="ctr">
                      <a:solidFill>
                        <a:schemeClr val="tx1"/>
                      </a:solidFill>
                      <a:prstDash val="solid"/>
                      <a:round/>
                      <a:headEnd type="none" w="med" len="med"/>
                      <a:tailEnd type="none" w="med" len="med"/>
                    </a:lnR>
                    <a:solidFill>
                      <a:srgbClr val="FFF2CC"/>
                    </a:solidFill>
                  </a:tcPr>
                </a:tc>
              </a:tr>
              <a:tr h="534924">
                <a:tc>
                  <a:txBody>
                    <a:bodyPr/>
                    <a:lstStyle/>
                    <a:p>
                      <a:pPr algn="ctr"/>
                      <a:r>
                        <a:rPr sz="800" b="0" i="0" dirty="0">
                          <a:solidFill>
                            <a:srgbClr val="212121"/>
                          </a:solidFill>
                          <a:latin typeface="Yu Gothic"/>
                        </a:rPr>
                        <a:t>21</a:t>
                      </a:r>
                    </a:p>
                  </a:txBody>
                  <a:tcPr marL="50800" marR="50800" marT="25400" marB="254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FFFFFF"/>
                    </a:solidFill>
                  </a:tcPr>
                </a:tc>
                <a:tc>
                  <a:txBody>
                    <a:bodyPr/>
                    <a:lstStyle/>
                    <a:p>
                      <a:pPr algn="l"/>
                      <a:r>
                        <a:rPr sz="760" b="0" i="0" dirty="0" err="1">
                          <a:solidFill>
                            <a:srgbClr val="212121"/>
                          </a:solidFill>
                          <a:latin typeface="Yu Gothic"/>
                        </a:rPr>
                        <a:t>処理フロ</a:t>
                      </a:r>
                      <a:r>
                        <a:rPr sz="760" b="0" i="0" dirty="0">
                          <a:solidFill>
                            <a:srgbClr val="212121"/>
                          </a:solidFill>
                          <a:latin typeface="Yu Gothic"/>
                        </a:rPr>
                        <a:t>ー①〜⑧</a:t>
                      </a:r>
                      <a:r>
                        <a:rPr sz="760" b="0" i="0" dirty="0" err="1">
                          <a:solidFill>
                            <a:srgbClr val="212121"/>
                          </a:solidFill>
                          <a:latin typeface="Yu Gothic"/>
                        </a:rPr>
                        <a:t>の一連の流れとしての整合性（詳細設計書</a:t>
                      </a:r>
                      <a:r>
                        <a:rPr sz="760" b="0" i="0" dirty="0">
                          <a:solidFill>
                            <a:srgbClr val="212121"/>
                          </a:solidFill>
                          <a:latin typeface="Yu Gothic"/>
                        </a:rPr>
                        <a:t> </a:t>
                      </a:r>
                      <a:r>
                        <a:rPr sz="760" b="0" i="0" dirty="0" err="1">
                          <a:solidFill>
                            <a:srgbClr val="212121"/>
                          </a:solidFill>
                          <a:latin typeface="Yu Gothic"/>
                        </a:rPr>
                        <a:t>処理フロ</a:t>
                      </a:r>
                      <a:r>
                        <a:rPr sz="760" b="0" i="0" dirty="0">
                          <a:solidFill>
                            <a:srgbClr val="212121"/>
                          </a:solidFill>
                          <a:latin typeface="Yu Gothic"/>
                        </a:rPr>
                        <a:t>ー）</a:t>
                      </a:r>
                    </a:p>
                  </a:txBody>
                  <a:tcPr marL="50800" marR="50800" marT="25400" marB="25400" anchor="ctr">
                    <a:lnB w="12700" cap="flat" cmpd="sng" algn="ctr">
                      <a:solidFill>
                        <a:schemeClr val="tx1"/>
                      </a:solidFill>
                      <a:prstDash val="solid"/>
                      <a:round/>
                      <a:headEnd type="none" w="med" len="med"/>
                      <a:tailEnd type="none" w="med" len="med"/>
                    </a:lnB>
                    <a:solidFill>
                      <a:srgbClr val="FFFFFF"/>
                    </a:solidFill>
                  </a:tcPr>
                </a:tc>
                <a:tc>
                  <a:txBody>
                    <a:bodyPr/>
                    <a:lstStyle/>
                    <a:p>
                      <a:pPr algn="ctr"/>
                      <a:r>
                        <a:rPr sz="760" b="0" i="0">
                          <a:solidFill>
                            <a:srgbClr val="212121"/>
                          </a:solidFill>
                          <a:latin typeface="Yu Gothic"/>
                        </a:rPr>
                        <a:t>△</a:t>
                      </a:r>
                    </a:p>
                  </a:txBody>
                  <a:tcPr marL="50800" marR="50800" marT="25400" marB="25400" anchor="ctr">
                    <a:lnB w="12700" cap="flat" cmpd="sng" algn="ctr">
                      <a:solidFill>
                        <a:schemeClr val="tx1"/>
                      </a:solidFill>
                      <a:prstDash val="solid"/>
                      <a:round/>
                      <a:headEnd type="none" w="med" len="med"/>
                      <a:tailEnd type="none" w="med" len="med"/>
                    </a:lnB>
                    <a:solidFill>
                      <a:srgbClr val="FFF2CC"/>
                    </a:solidFill>
                  </a:tcPr>
                </a:tc>
                <a:tc>
                  <a:txBody>
                    <a:bodyPr/>
                    <a:lstStyle/>
                    <a:p>
                      <a:pPr algn="ctr"/>
                      <a:r>
                        <a:rPr sz="720" b="0" i="0" dirty="0">
                          <a:solidFill>
                            <a:srgbClr val="212121"/>
                          </a:solidFill>
                          <a:latin typeface="Yu Gothic"/>
                        </a:rPr>
                        <a:t>✗</a:t>
                      </a:r>
                    </a:p>
                  </a:txBody>
                  <a:tcPr marL="50800" marR="50800" marT="25400" marB="254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F8CBAD"/>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64592"/>
            <a:ext cx="9692640" cy="246221"/>
          </a:xfrm>
          <a:prstGeom prst="rect">
            <a:avLst/>
          </a:prstGeom>
          <a:noFill/>
        </p:spPr>
        <p:txBody>
          <a:bodyPr wrap="square" lIns="0" tIns="0" rIns="0" bIns="0" anchor="t">
            <a:spAutoFit/>
          </a:bodyPr>
          <a:lstStyle/>
          <a:p>
            <a:r>
              <a:rPr lang="ja-JP" altLang="en-US" sz="1600" dirty="0"/>
              <a:t>比較結果のまとめ</a:t>
            </a:r>
            <a:endParaRPr sz="1700" b="1" i="0" dirty="0">
              <a:solidFill>
                <a:srgbClr val="212121"/>
              </a:solidFill>
              <a:latin typeface="Yu Gothic"/>
            </a:endParaRPr>
          </a:p>
        </p:txBody>
      </p:sp>
      <p:pic>
        <p:nvPicPr>
          <p:cNvPr id="4" name="Picture 3" descr="dat_logo.jpeg"/>
          <p:cNvPicPr>
            <a:picLocks noChangeAspect="1"/>
          </p:cNvPicPr>
          <p:nvPr/>
        </p:nvPicPr>
        <p:blipFill>
          <a:blip r:embed="rId2"/>
          <a:stretch>
            <a:fillRect/>
          </a:stretch>
        </p:blipFill>
        <p:spPr>
          <a:xfrm>
            <a:off x="10881360" y="128016"/>
            <a:ext cx="845584" cy="420624"/>
          </a:xfrm>
          <a:prstGeom prst="rect">
            <a:avLst/>
          </a:prstGeom>
        </p:spPr>
      </p:pic>
      <p:sp>
        <p:nvSpPr>
          <p:cNvPr id="5" name="Rectangle 4"/>
          <p:cNvSpPr/>
          <p:nvPr/>
        </p:nvSpPr>
        <p:spPr>
          <a:xfrm>
            <a:off x="274320" y="603504"/>
            <a:ext cx="11640312" cy="27432"/>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38560" y="6492240"/>
            <a:ext cx="548640" cy="274320"/>
          </a:xfrm>
          <a:prstGeom prst="rect">
            <a:avLst/>
          </a:prstGeom>
          <a:noFill/>
        </p:spPr>
        <p:txBody>
          <a:bodyPr wrap="square" lIns="0" tIns="0" rIns="0" bIns="0" anchor="t">
            <a:spAutoFit/>
          </a:bodyPr>
          <a:lstStyle/>
          <a:p>
            <a:pPr algn="r">
              <a:lnSpc>
                <a:spcPct val="100000"/>
              </a:lnSpc>
            </a:pPr>
            <a:r>
              <a:rPr sz="1050" b="0" i="0">
                <a:solidFill>
                  <a:srgbClr val="808080"/>
                </a:solidFill>
                <a:latin typeface="Yu Gothic"/>
              </a:rPr>
              <a:t>4</a:t>
            </a:r>
          </a:p>
        </p:txBody>
      </p:sp>
      <p:sp>
        <p:nvSpPr>
          <p:cNvPr id="7" name="TextBox 6"/>
          <p:cNvSpPr txBox="1"/>
          <p:nvPr/>
        </p:nvSpPr>
        <p:spPr>
          <a:xfrm>
            <a:off x="282411" y="718259"/>
            <a:ext cx="4572808" cy="200055"/>
          </a:xfrm>
          <a:prstGeom prst="rect">
            <a:avLst/>
          </a:prstGeom>
          <a:noFill/>
        </p:spPr>
        <p:txBody>
          <a:bodyPr wrap="square" lIns="0" tIns="0" rIns="0" bIns="0" anchor="t">
            <a:spAutoFit/>
          </a:bodyPr>
          <a:lstStyle/>
          <a:p>
            <a:r>
              <a:rPr lang="en-US" sz="1300" b="1" dirty="0" smtClean="0">
                <a:solidFill>
                  <a:srgbClr val="548235"/>
                </a:solidFill>
                <a:latin typeface="BIZ UDPゴシック" pitchFamily="34" charset="-128"/>
                <a:ea typeface="BIZ UDPゴシック" pitchFamily="34" charset="-128"/>
              </a:rPr>
              <a:t>AI</a:t>
            </a:r>
            <a:r>
              <a:rPr lang="ja-JP" altLang="en-US" sz="1300" b="1" dirty="0">
                <a:solidFill>
                  <a:srgbClr val="548235"/>
                </a:solidFill>
                <a:latin typeface="BIZ UDPゴシック" pitchFamily="34" charset="-128"/>
                <a:ea typeface="BIZ UDPゴシック" pitchFamily="34" charset="-128"/>
              </a:rPr>
              <a:t>と</a:t>
            </a:r>
            <a:r>
              <a:rPr lang="en-US" sz="1300" b="1" dirty="0">
                <a:solidFill>
                  <a:srgbClr val="548235"/>
                </a:solidFill>
                <a:latin typeface="BIZ UDPゴシック" pitchFamily="34" charset="-128"/>
                <a:ea typeface="BIZ UDPゴシック" pitchFamily="34" charset="-128"/>
              </a:rPr>
              <a:t>GitHub Copilot</a:t>
            </a:r>
            <a:r>
              <a:rPr lang="ja-JP" altLang="en-US" sz="1300" b="1" dirty="0">
                <a:solidFill>
                  <a:srgbClr val="548235"/>
                </a:solidFill>
                <a:latin typeface="BIZ UDPゴシック" pitchFamily="34" charset="-128"/>
                <a:ea typeface="BIZ UDPゴシック" pitchFamily="34" charset="-128"/>
              </a:rPr>
              <a:t>の比較</a:t>
            </a:r>
            <a:endParaRPr sz="1300" b="1" i="0" dirty="0">
              <a:solidFill>
                <a:srgbClr val="548235"/>
              </a:solidFill>
              <a:latin typeface="BIZ UDPゴシック" pitchFamily="34" charset="-128"/>
              <a:ea typeface="BIZ UDPゴシック" pitchFamily="34" charset="-128"/>
            </a:endParaRPr>
          </a:p>
        </p:txBody>
      </p:sp>
      <p:sp>
        <p:nvSpPr>
          <p:cNvPr id="9" name="TextBox 8"/>
          <p:cNvSpPr txBox="1"/>
          <p:nvPr/>
        </p:nvSpPr>
        <p:spPr>
          <a:xfrm>
            <a:off x="5810043" y="712412"/>
            <a:ext cx="1811811" cy="200055"/>
          </a:xfrm>
          <a:prstGeom prst="rect">
            <a:avLst/>
          </a:prstGeom>
          <a:noFill/>
        </p:spPr>
        <p:txBody>
          <a:bodyPr wrap="square" lIns="0" tIns="0" rIns="0" bIns="0" anchor="t">
            <a:spAutoFit/>
          </a:bodyPr>
          <a:lstStyle/>
          <a:p>
            <a:r>
              <a:rPr lang="ja-JP" altLang="en-US" sz="1300" b="1" dirty="0">
                <a:solidFill>
                  <a:srgbClr val="2E75B6"/>
                </a:solidFill>
                <a:latin typeface="BIZ UDPゴシック" pitchFamily="34" charset="-128"/>
                <a:ea typeface="BIZ UDPゴシック" pitchFamily="34" charset="-128"/>
              </a:rPr>
              <a:t>メリット比較スコア</a:t>
            </a:r>
            <a:endParaRPr sz="1300" b="1" i="0" dirty="0">
              <a:solidFill>
                <a:srgbClr val="2E75B6"/>
              </a:solidFill>
              <a:latin typeface="BIZ UDPゴシック" pitchFamily="34" charset="-128"/>
              <a:ea typeface="BIZ UDPゴシック" pitchFamily="34" charset="-128"/>
            </a:endParaRPr>
          </a:p>
        </p:txBody>
      </p:sp>
      <p:graphicFrame>
        <p:nvGraphicFramePr>
          <p:cNvPr id="16" name="Table 15"/>
          <p:cNvGraphicFramePr>
            <a:graphicFrameLocks noGrp="1"/>
          </p:cNvGraphicFramePr>
          <p:nvPr>
            <p:extLst>
              <p:ext uri="{D42A27DB-BD31-4B8C-83A1-F6EECF244321}">
                <p14:modId xmlns:p14="http://schemas.microsoft.com/office/powerpoint/2010/main" val="314699093"/>
              </p:ext>
            </p:extLst>
          </p:nvPr>
        </p:nvGraphicFramePr>
        <p:xfrm>
          <a:off x="282411" y="1043872"/>
          <a:ext cx="4815368" cy="4612461"/>
        </p:xfrm>
        <a:graphic>
          <a:graphicData uri="http://schemas.openxmlformats.org/drawingml/2006/table">
            <a:tbl>
              <a:tblPr firstRow="1" bandRow="1">
                <a:tableStyleId>{F5AB1C69-6EDB-4FF4-983F-18BD219EF322}</a:tableStyleId>
              </a:tblPr>
              <a:tblGrid>
                <a:gridCol w="1749144"/>
                <a:gridCol w="1114991"/>
                <a:gridCol w="891994"/>
                <a:gridCol w="1059239"/>
              </a:tblGrid>
              <a:tr h="353303">
                <a:tc>
                  <a:txBody>
                    <a:bodyPr/>
                    <a:lstStyle/>
                    <a:p>
                      <a:pPr algn="ctr" fontAlgn="ctr"/>
                      <a:r>
                        <a:rPr lang="en-US" sz="1100" u="none" strike="noStrike" dirty="0">
                          <a:effectLst/>
                        </a:rPr>
                        <a:t>Evaluation Item</a:t>
                      </a:r>
                      <a:endParaRPr lang="en-US" sz="1100" b="1" i="0" u="none" strike="noStrike" dirty="0">
                        <a:solidFill>
                          <a:srgbClr val="FFFFFF"/>
                        </a:solidFill>
                        <a:effectLst/>
                        <a:latin typeface="Arial"/>
                      </a:endParaRPr>
                    </a:p>
                  </a:txBody>
                  <a:tcPr marL="9525" marR="9525" marT="9525" marB="0" anchor="ctr">
                    <a:solidFill>
                      <a:schemeClr val="accent3">
                        <a:lumMod val="75000"/>
                      </a:schemeClr>
                    </a:solidFill>
                  </a:tcPr>
                </a:tc>
                <a:tc>
                  <a:txBody>
                    <a:bodyPr/>
                    <a:lstStyle/>
                    <a:p>
                      <a:pPr algn="ctr" fontAlgn="ctr"/>
                      <a:r>
                        <a:rPr lang="en-US" sz="1100" u="none" strike="noStrike" dirty="0">
                          <a:effectLst/>
                        </a:rPr>
                        <a:t>GitHub Copilot</a:t>
                      </a:r>
                      <a:endParaRPr lang="en-US" sz="1100" b="1" i="0" u="none" strike="noStrike" dirty="0">
                        <a:solidFill>
                          <a:srgbClr val="FFFFFF"/>
                        </a:solidFill>
                        <a:effectLst/>
                        <a:latin typeface="Arial"/>
                      </a:endParaRPr>
                    </a:p>
                  </a:txBody>
                  <a:tcPr marL="9525" marR="9525" marT="9525" marB="0" anchor="ctr">
                    <a:solidFill>
                      <a:schemeClr val="accent3">
                        <a:lumMod val="75000"/>
                      </a:schemeClr>
                    </a:solidFill>
                  </a:tcPr>
                </a:tc>
                <a:tc>
                  <a:txBody>
                    <a:bodyPr/>
                    <a:lstStyle/>
                    <a:p>
                      <a:pPr algn="ctr" fontAlgn="ctr"/>
                      <a:r>
                        <a:rPr lang="en-US" sz="1100" u="none" strike="noStrike" dirty="0">
                          <a:effectLst/>
                        </a:rPr>
                        <a:t>OpenAI GPT</a:t>
                      </a:r>
                      <a:endParaRPr lang="en-US" sz="1100" b="1" i="0" u="none" strike="noStrike" dirty="0">
                        <a:solidFill>
                          <a:srgbClr val="FFFFFF"/>
                        </a:solidFill>
                        <a:effectLst/>
                        <a:latin typeface="Arial"/>
                      </a:endParaRPr>
                    </a:p>
                  </a:txBody>
                  <a:tcPr marL="9525" marR="9525" marT="9525" marB="0" anchor="ctr">
                    <a:solidFill>
                      <a:schemeClr val="accent3">
                        <a:lumMod val="75000"/>
                      </a:schemeClr>
                    </a:solidFill>
                  </a:tcPr>
                </a:tc>
                <a:tc>
                  <a:txBody>
                    <a:bodyPr/>
                    <a:lstStyle/>
                    <a:p>
                      <a:pPr algn="ctr" fontAlgn="ctr"/>
                      <a:r>
                        <a:rPr lang="en-US" sz="1100" u="none" strike="noStrike" dirty="0">
                          <a:effectLst/>
                        </a:rPr>
                        <a:t>Recommendation</a:t>
                      </a:r>
                      <a:endParaRPr lang="en-US" sz="1100" b="1" i="0" u="none" strike="noStrike" dirty="0">
                        <a:solidFill>
                          <a:srgbClr val="FFFFFF"/>
                        </a:solidFill>
                        <a:effectLst/>
                        <a:latin typeface="Arial"/>
                      </a:endParaRPr>
                    </a:p>
                  </a:txBody>
                  <a:tcPr marL="9525" marR="9525" marT="9525" marB="0" anchor="ctr">
                    <a:solidFill>
                      <a:schemeClr val="accent3">
                        <a:lumMod val="75000"/>
                      </a:schemeClr>
                    </a:solidFill>
                  </a:tcPr>
                </a:tc>
              </a:tr>
              <a:tr h="353303">
                <a:tc>
                  <a:txBody>
                    <a:bodyPr/>
                    <a:lstStyle/>
                    <a:p>
                      <a:pPr algn="l" fontAlgn="ctr"/>
                      <a:r>
                        <a:rPr lang="en-US" sz="1100" u="none" strike="noStrike" dirty="0">
                          <a:effectLst/>
                        </a:rPr>
                        <a:t>Requirement Understanding</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a:effectLst/>
                        </a:rPr>
                        <a:t>Good</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Excellent</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OpenAI</a:t>
                      </a:r>
                      <a:endParaRPr lang="en-US" sz="1100" b="0" i="0" u="none" strike="noStrike" dirty="0">
                        <a:solidFill>
                          <a:srgbClr val="000000"/>
                        </a:solidFill>
                        <a:effectLst/>
                        <a:latin typeface="Arial"/>
                      </a:endParaRPr>
                    </a:p>
                  </a:txBody>
                  <a:tcPr marL="9525" marR="9525" marT="9525" marB="0" anchor="ctr"/>
                </a:tc>
              </a:tr>
              <a:tr h="181532">
                <a:tc>
                  <a:txBody>
                    <a:bodyPr/>
                    <a:lstStyle/>
                    <a:p>
                      <a:pPr algn="l" fontAlgn="ctr"/>
                      <a:r>
                        <a:rPr lang="en-US" sz="1100" u="none" strike="noStrike" dirty="0">
                          <a:effectLst/>
                        </a:rPr>
                        <a:t>Basic Design Analysis</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a:effectLst/>
                        </a:rPr>
                        <a:t>Good</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Excellent</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OpenAI</a:t>
                      </a:r>
                      <a:endParaRPr lang="en-US" sz="1100" b="0" i="0" u="none" strike="noStrike" dirty="0">
                        <a:solidFill>
                          <a:srgbClr val="000000"/>
                        </a:solidFill>
                        <a:effectLst/>
                        <a:latin typeface="Arial"/>
                      </a:endParaRPr>
                    </a:p>
                  </a:txBody>
                  <a:tcPr marL="9525" marR="9525" marT="9525" marB="0" anchor="ctr"/>
                </a:tc>
              </a:tr>
              <a:tr h="181532">
                <a:tc>
                  <a:txBody>
                    <a:bodyPr/>
                    <a:lstStyle/>
                    <a:p>
                      <a:pPr algn="l" fontAlgn="ctr"/>
                      <a:r>
                        <a:rPr lang="en-US" sz="1100" u="none" strike="noStrike">
                          <a:effectLst/>
                        </a:rPr>
                        <a:t>Detail Design Analysis</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Fair</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a:effectLst/>
                        </a:rPr>
                        <a:t>Excellent</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OpenAI</a:t>
                      </a:r>
                      <a:endParaRPr lang="en-US" sz="1100" b="0" i="0" u="none" strike="noStrike" dirty="0">
                        <a:solidFill>
                          <a:srgbClr val="000000"/>
                        </a:solidFill>
                        <a:effectLst/>
                        <a:latin typeface="Arial"/>
                      </a:endParaRPr>
                    </a:p>
                  </a:txBody>
                  <a:tcPr marL="9525" marR="9525" marT="9525" marB="0" anchor="ctr"/>
                </a:tc>
              </a:tr>
              <a:tr h="353303">
                <a:tc>
                  <a:txBody>
                    <a:bodyPr/>
                    <a:lstStyle/>
                    <a:p>
                      <a:pPr algn="l" fontAlgn="ctr"/>
                      <a:r>
                        <a:rPr lang="en-US" sz="1100" u="none" strike="noStrike" dirty="0">
                          <a:effectLst/>
                        </a:rPr>
                        <a:t>Japanese Document Understanding</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Good</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a:effectLst/>
                        </a:rPr>
                        <a:t>Excellent</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OpenAI</a:t>
                      </a:r>
                      <a:endParaRPr lang="en-US" sz="1100" b="0" i="0" u="none" strike="noStrike" dirty="0">
                        <a:solidFill>
                          <a:srgbClr val="000000"/>
                        </a:solidFill>
                        <a:effectLst/>
                        <a:latin typeface="Arial"/>
                      </a:endParaRPr>
                    </a:p>
                  </a:txBody>
                  <a:tcPr marL="9525" marR="9525" marT="9525" marB="0" anchor="ctr"/>
                </a:tc>
              </a:tr>
              <a:tr h="353303">
                <a:tc>
                  <a:txBody>
                    <a:bodyPr/>
                    <a:lstStyle/>
                    <a:p>
                      <a:pPr algn="l" fontAlgn="ctr"/>
                      <a:r>
                        <a:rPr lang="en-US" sz="1100" u="none" strike="noStrike">
                          <a:effectLst/>
                        </a:rPr>
                        <a:t>Positive Test Case Generation</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Excellent</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Excellent</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Both</a:t>
                      </a:r>
                      <a:endParaRPr lang="en-US" sz="1100" b="0" i="0" u="none" strike="noStrike" dirty="0">
                        <a:solidFill>
                          <a:srgbClr val="000000"/>
                        </a:solidFill>
                        <a:effectLst/>
                        <a:latin typeface="Arial"/>
                      </a:endParaRPr>
                    </a:p>
                  </a:txBody>
                  <a:tcPr marL="9525" marR="9525" marT="9525" marB="0" anchor="ctr"/>
                </a:tc>
              </a:tr>
              <a:tr h="353303">
                <a:tc>
                  <a:txBody>
                    <a:bodyPr/>
                    <a:lstStyle/>
                    <a:p>
                      <a:pPr algn="l" fontAlgn="ctr"/>
                      <a:r>
                        <a:rPr lang="en-US" sz="1100" u="none" strike="noStrike">
                          <a:effectLst/>
                        </a:rPr>
                        <a:t>Negative Test Case Generation</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Good</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Excellent</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OpenAI</a:t>
                      </a:r>
                      <a:endParaRPr lang="en-US" sz="1100" b="0" i="0" u="none" strike="noStrike" dirty="0">
                        <a:solidFill>
                          <a:srgbClr val="000000"/>
                        </a:solidFill>
                        <a:effectLst/>
                        <a:latin typeface="Arial"/>
                      </a:endParaRPr>
                    </a:p>
                  </a:txBody>
                  <a:tcPr marL="9525" marR="9525" marT="9525" marB="0" anchor="ctr"/>
                </a:tc>
              </a:tr>
              <a:tr h="353303">
                <a:tc>
                  <a:txBody>
                    <a:bodyPr/>
                    <a:lstStyle/>
                    <a:p>
                      <a:pPr algn="l" fontAlgn="ctr"/>
                      <a:r>
                        <a:rPr lang="en-US" sz="1100" u="none" strike="noStrike" dirty="0">
                          <a:effectLst/>
                        </a:rPr>
                        <a:t>Boundary Value Analysis</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a:effectLst/>
                        </a:rPr>
                        <a:t>Fair</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Excellent</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OpenAI</a:t>
                      </a:r>
                      <a:endParaRPr lang="en-US" sz="1100" b="0" i="0" u="none" strike="noStrike" dirty="0">
                        <a:solidFill>
                          <a:srgbClr val="000000"/>
                        </a:solidFill>
                        <a:effectLst/>
                        <a:latin typeface="Arial"/>
                      </a:endParaRPr>
                    </a:p>
                  </a:txBody>
                  <a:tcPr marL="9525" marR="9525" marT="9525" marB="0" anchor="ctr"/>
                </a:tc>
              </a:tr>
              <a:tr h="353303">
                <a:tc>
                  <a:txBody>
                    <a:bodyPr/>
                    <a:lstStyle/>
                    <a:p>
                      <a:pPr algn="l" fontAlgn="ctr"/>
                      <a:r>
                        <a:rPr lang="en-US" sz="1100" u="none" strike="noStrike">
                          <a:effectLst/>
                        </a:rPr>
                        <a:t>Business Rule Analysis</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Fair</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Excellent</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OpenAI</a:t>
                      </a:r>
                      <a:endParaRPr lang="en-US" sz="1100" b="0" i="0" u="none" strike="noStrike" dirty="0">
                        <a:solidFill>
                          <a:srgbClr val="000000"/>
                        </a:solidFill>
                        <a:effectLst/>
                        <a:latin typeface="Arial"/>
                      </a:endParaRPr>
                    </a:p>
                  </a:txBody>
                  <a:tcPr marL="9525" marR="9525" marT="9525" marB="0" anchor="ctr"/>
                </a:tc>
              </a:tr>
              <a:tr h="181532">
                <a:tc>
                  <a:txBody>
                    <a:bodyPr/>
                    <a:lstStyle/>
                    <a:p>
                      <a:pPr algn="l" fontAlgn="ctr"/>
                      <a:r>
                        <a:rPr lang="en-US" sz="1100" u="none" strike="noStrike">
                          <a:effectLst/>
                        </a:rPr>
                        <a:t>Coverage Analysis</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Good</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Excellent</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OpenAI</a:t>
                      </a:r>
                      <a:endParaRPr lang="en-US" sz="1100" b="0" i="0" u="none" strike="noStrike" dirty="0">
                        <a:solidFill>
                          <a:srgbClr val="000000"/>
                        </a:solidFill>
                        <a:effectLst/>
                        <a:latin typeface="Arial"/>
                      </a:endParaRPr>
                    </a:p>
                  </a:txBody>
                  <a:tcPr marL="9525" marR="9525" marT="9525" marB="0" anchor="ctr"/>
                </a:tc>
              </a:tr>
              <a:tr h="353303">
                <a:tc>
                  <a:txBody>
                    <a:bodyPr/>
                    <a:lstStyle/>
                    <a:p>
                      <a:pPr algn="l" fontAlgn="ctr"/>
                      <a:r>
                        <a:rPr lang="en-US" sz="1100" u="none" strike="noStrike">
                          <a:effectLst/>
                        </a:rPr>
                        <a:t>Source Code Generation</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Excellent</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Good</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GitHub Copilot</a:t>
                      </a:r>
                      <a:endParaRPr lang="en-US" sz="1100" b="0" i="0" u="none" strike="noStrike" dirty="0">
                        <a:solidFill>
                          <a:srgbClr val="000000"/>
                        </a:solidFill>
                        <a:effectLst/>
                        <a:latin typeface="Arial"/>
                      </a:endParaRPr>
                    </a:p>
                  </a:txBody>
                  <a:tcPr marL="9525" marR="9525" marT="9525" marB="0" anchor="ctr"/>
                </a:tc>
              </a:tr>
              <a:tr h="353303">
                <a:tc>
                  <a:txBody>
                    <a:bodyPr/>
                    <a:lstStyle/>
                    <a:p>
                      <a:pPr algn="l" fontAlgn="ctr"/>
                      <a:r>
                        <a:rPr lang="en-US" sz="1100" u="none" strike="noStrike">
                          <a:effectLst/>
                        </a:rPr>
                        <a:t>Refactoring Support</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Excellent</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Good</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GitHub Copilot</a:t>
                      </a:r>
                      <a:endParaRPr lang="en-US" sz="1100" b="0" i="0" u="none" strike="noStrike" dirty="0">
                        <a:solidFill>
                          <a:srgbClr val="000000"/>
                        </a:solidFill>
                        <a:effectLst/>
                        <a:latin typeface="Arial"/>
                      </a:endParaRPr>
                    </a:p>
                  </a:txBody>
                  <a:tcPr marL="9525" marR="9525" marT="9525" marB="0" anchor="ctr"/>
                </a:tc>
              </a:tr>
              <a:tr h="353303">
                <a:tc>
                  <a:txBody>
                    <a:bodyPr/>
                    <a:lstStyle/>
                    <a:p>
                      <a:pPr algn="l" fontAlgn="ctr"/>
                      <a:r>
                        <a:rPr lang="en-US" sz="1100" u="none" strike="noStrike">
                          <a:effectLst/>
                        </a:rPr>
                        <a:t>IDE Integration</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Excellent</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Fair</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GitHub Copilot</a:t>
                      </a:r>
                      <a:endParaRPr lang="en-US" sz="1100" b="0" i="0" u="none" strike="noStrike" dirty="0">
                        <a:solidFill>
                          <a:srgbClr val="000000"/>
                        </a:solidFill>
                        <a:effectLst/>
                        <a:latin typeface="Arial"/>
                      </a:endParaRPr>
                    </a:p>
                  </a:txBody>
                  <a:tcPr marL="9525" marR="9525" marT="9525" marB="0" anchor="ctr"/>
                </a:tc>
              </a:tr>
              <a:tr h="181532">
                <a:tc>
                  <a:txBody>
                    <a:bodyPr/>
                    <a:lstStyle/>
                    <a:p>
                      <a:pPr algn="l" fontAlgn="ctr"/>
                      <a:r>
                        <a:rPr lang="en-US" sz="1100" u="none" strike="noStrike">
                          <a:effectLst/>
                        </a:rPr>
                        <a:t>Cost Predictability</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Fair</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Excellent</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OpenAI</a:t>
                      </a:r>
                      <a:endParaRPr lang="en-US" sz="1100" b="0" i="0" u="none" strike="noStrike" dirty="0">
                        <a:solidFill>
                          <a:srgbClr val="000000"/>
                        </a:solidFill>
                        <a:effectLst/>
                        <a:latin typeface="Arial"/>
                      </a:endParaRPr>
                    </a:p>
                  </a:txBody>
                  <a:tcPr marL="9525" marR="9525" marT="9525" marB="0" anchor="ctr"/>
                </a:tc>
              </a:tr>
              <a:tr h="353303">
                <a:tc>
                  <a:txBody>
                    <a:bodyPr/>
                    <a:lstStyle/>
                    <a:p>
                      <a:pPr algn="l" fontAlgn="ctr"/>
                      <a:r>
                        <a:rPr lang="en-US" sz="1100" u="none" strike="noStrike">
                          <a:effectLst/>
                        </a:rPr>
                        <a:t>Offline Development Support</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Excellent</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Fair</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GitHub Copilot</a:t>
                      </a:r>
                      <a:endParaRPr lang="en-US" sz="1100" b="0" i="0" u="none" strike="noStrike" dirty="0">
                        <a:solidFill>
                          <a:srgbClr val="000000"/>
                        </a:solidFill>
                        <a:effectLst/>
                        <a:latin typeface="Arial"/>
                      </a:endParaRPr>
                    </a:p>
                  </a:txBody>
                  <a:tcPr marL="9525" marR="9525" marT="9525" marB="0" anchor="ctr"/>
                </a:tc>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703818281"/>
              </p:ext>
            </p:extLst>
          </p:nvPr>
        </p:nvGraphicFramePr>
        <p:xfrm>
          <a:off x="5810043" y="1020585"/>
          <a:ext cx="5275204" cy="1744375"/>
        </p:xfrm>
        <a:graphic>
          <a:graphicData uri="http://schemas.openxmlformats.org/drawingml/2006/table">
            <a:tbl>
              <a:tblPr firstRow="1" bandRow="1">
                <a:tableStyleId>{5C22544A-7EE6-4342-B048-85BDC9FD1C3A}</a:tableStyleId>
              </a:tblPr>
              <a:tblGrid>
                <a:gridCol w="2078849"/>
                <a:gridCol w="1058791"/>
                <a:gridCol w="977174"/>
                <a:gridCol w="1160390"/>
              </a:tblGrid>
              <a:tr h="298317">
                <a:tc>
                  <a:txBody>
                    <a:bodyPr/>
                    <a:lstStyle/>
                    <a:p>
                      <a:pPr algn="ctr" fontAlgn="ctr"/>
                      <a:r>
                        <a:rPr lang="en-US" sz="1100" u="none" strike="noStrike" dirty="0">
                          <a:effectLst/>
                        </a:rPr>
                        <a:t>Category</a:t>
                      </a:r>
                      <a:endParaRPr lang="en-US" sz="1100" b="1" i="0" u="none" strike="noStrike" dirty="0">
                        <a:solidFill>
                          <a:srgbClr val="FFFFFF"/>
                        </a:solidFill>
                        <a:effectLst/>
                        <a:latin typeface="Arial"/>
                      </a:endParaRPr>
                    </a:p>
                  </a:txBody>
                  <a:tcPr marL="9525" marR="9525" marT="9525" marB="0" anchor="ctr"/>
                </a:tc>
                <a:tc>
                  <a:txBody>
                    <a:bodyPr/>
                    <a:lstStyle/>
                    <a:p>
                      <a:pPr algn="ctr" fontAlgn="ctr"/>
                      <a:r>
                        <a:rPr lang="en-US" sz="1100" u="none" strike="noStrike" dirty="0">
                          <a:effectLst/>
                        </a:rPr>
                        <a:t>Weight</a:t>
                      </a:r>
                      <a:endParaRPr lang="en-US" sz="1100" b="1" i="0" u="none" strike="noStrike" dirty="0">
                        <a:solidFill>
                          <a:srgbClr val="FFFFFF"/>
                        </a:solidFill>
                        <a:effectLst/>
                        <a:latin typeface="Arial"/>
                      </a:endParaRPr>
                    </a:p>
                  </a:txBody>
                  <a:tcPr marL="9525" marR="9525" marT="9525" marB="0" anchor="ctr"/>
                </a:tc>
                <a:tc>
                  <a:txBody>
                    <a:bodyPr/>
                    <a:lstStyle/>
                    <a:p>
                      <a:pPr algn="ctr" fontAlgn="ctr"/>
                      <a:r>
                        <a:rPr lang="en-US" sz="1100" u="none" strike="noStrike" dirty="0">
                          <a:effectLst/>
                        </a:rPr>
                        <a:t>GitHub Copilot</a:t>
                      </a:r>
                      <a:endParaRPr lang="en-US" sz="1100" b="1" i="0" u="none" strike="noStrike" dirty="0">
                        <a:solidFill>
                          <a:srgbClr val="FFFFFF"/>
                        </a:solidFill>
                        <a:effectLst/>
                        <a:latin typeface="Arial"/>
                      </a:endParaRPr>
                    </a:p>
                  </a:txBody>
                  <a:tcPr marL="9525" marR="9525" marT="9525" marB="0" anchor="ctr"/>
                </a:tc>
                <a:tc>
                  <a:txBody>
                    <a:bodyPr/>
                    <a:lstStyle/>
                    <a:p>
                      <a:pPr algn="ctr" fontAlgn="ctr"/>
                      <a:r>
                        <a:rPr lang="en-US" sz="1100" u="none" strike="noStrike" dirty="0">
                          <a:effectLst/>
                        </a:rPr>
                        <a:t>OpenAI GPT</a:t>
                      </a:r>
                      <a:endParaRPr lang="en-US" sz="1100" b="1" i="0" u="none" strike="noStrike" dirty="0">
                        <a:solidFill>
                          <a:srgbClr val="FFFFFF"/>
                        </a:solidFill>
                        <a:effectLst/>
                        <a:latin typeface="Arial"/>
                      </a:endParaRPr>
                    </a:p>
                  </a:txBody>
                  <a:tcPr marL="9525" marR="9525" marT="9525" marB="0" anchor="ctr"/>
                </a:tc>
              </a:tr>
              <a:tr h="223728">
                <a:tc>
                  <a:txBody>
                    <a:bodyPr/>
                    <a:lstStyle/>
                    <a:p>
                      <a:pPr algn="l" fontAlgn="ctr"/>
                      <a:r>
                        <a:rPr lang="en-US" sz="1100" u="none" strike="noStrike">
                          <a:effectLst/>
                        </a:rPr>
                        <a:t>Requirement Analysis</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25%</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a:effectLst/>
                        </a:rPr>
                        <a:t>3</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5</a:t>
                      </a:r>
                      <a:endParaRPr lang="en-US" sz="1100" b="0" i="0" u="none" strike="noStrike">
                        <a:solidFill>
                          <a:srgbClr val="000000"/>
                        </a:solidFill>
                        <a:effectLst/>
                        <a:latin typeface="Arial"/>
                      </a:endParaRPr>
                    </a:p>
                  </a:txBody>
                  <a:tcPr marL="9525" marR="9525" marT="9525" marB="0" anchor="ctr"/>
                </a:tc>
              </a:tr>
              <a:tr h="182026">
                <a:tc>
                  <a:txBody>
                    <a:bodyPr/>
                    <a:lstStyle/>
                    <a:p>
                      <a:pPr algn="l" fontAlgn="ctr"/>
                      <a:r>
                        <a:rPr lang="en-US" sz="1100" u="none" strike="noStrike" dirty="0">
                          <a:effectLst/>
                        </a:rPr>
                        <a:t>Test Case Generation</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a:effectLst/>
                        </a:rPr>
                        <a:t>30%</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3</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5</a:t>
                      </a:r>
                      <a:endParaRPr lang="en-US" sz="1100" b="0" i="0" u="none" strike="noStrike">
                        <a:solidFill>
                          <a:srgbClr val="000000"/>
                        </a:solidFill>
                        <a:effectLst/>
                        <a:latin typeface="Arial"/>
                      </a:endParaRPr>
                    </a:p>
                  </a:txBody>
                  <a:tcPr marL="9525" marR="9525" marT="9525" marB="0" anchor="ctr"/>
                </a:tc>
              </a:tr>
              <a:tr h="196029">
                <a:tc>
                  <a:txBody>
                    <a:bodyPr/>
                    <a:lstStyle/>
                    <a:p>
                      <a:pPr algn="l" fontAlgn="ctr"/>
                      <a:r>
                        <a:rPr lang="en-US" sz="1100" u="none" strike="noStrike">
                          <a:effectLst/>
                        </a:rPr>
                        <a:t>Coverage</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15%</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3</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5</a:t>
                      </a:r>
                      <a:endParaRPr lang="en-US" sz="1100" b="0" i="0" u="none" strike="noStrike">
                        <a:solidFill>
                          <a:srgbClr val="000000"/>
                        </a:solidFill>
                        <a:effectLst/>
                        <a:latin typeface="Arial"/>
                      </a:endParaRPr>
                    </a:p>
                  </a:txBody>
                  <a:tcPr marL="9525" marR="9525" marT="9525" marB="0" anchor="ctr"/>
                </a:tc>
              </a:tr>
              <a:tr h="203104">
                <a:tc>
                  <a:txBody>
                    <a:bodyPr/>
                    <a:lstStyle/>
                    <a:p>
                      <a:pPr algn="l" fontAlgn="ctr"/>
                      <a:r>
                        <a:rPr lang="en-US" sz="1100" u="none" strike="noStrike">
                          <a:effectLst/>
                        </a:rPr>
                        <a:t>Coding Support</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15%</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5</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3</a:t>
                      </a:r>
                      <a:endParaRPr lang="en-US" sz="1100" b="0" i="0" u="none" strike="noStrike">
                        <a:solidFill>
                          <a:srgbClr val="000000"/>
                        </a:solidFill>
                        <a:effectLst/>
                        <a:latin typeface="Arial"/>
                      </a:endParaRPr>
                    </a:p>
                  </a:txBody>
                  <a:tcPr marL="9525" marR="9525" marT="9525" marB="0" anchor="ctr"/>
                </a:tc>
              </a:tr>
              <a:tr h="231852">
                <a:tc>
                  <a:txBody>
                    <a:bodyPr/>
                    <a:lstStyle/>
                    <a:p>
                      <a:pPr algn="l" fontAlgn="ctr"/>
                      <a:r>
                        <a:rPr lang="en-US" sz="1100" u="none" strike="noStrike" dirty="0">
                          <a:effectLst/>
                        </a:rPr>
                        <a:t>Cost Management</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a:effectLst/>
                        </a:rPr>
                        <a:t>10%</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3</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4</a:t>
                      </a:r>
                      <a:endParaRPr lang="en-US" sz="1100" b="0" i="0" u="none" strike="noStrike">
                        <a:solidFill>
                          <a:srgbClr val="000000"/>
                        </a:solidFill>
                        <a:effectLst/>
                        <a:latin typeface="Arial"/>
                      </a:endParaRPr>
                    </a:p>
                  </a:txBody>
                  <a:tcPr marL="9525" marR="9525" marT="9525" marB="0" anchor="ctr"/>
                </a:tc>
              </a:tr>
              <a:tr h="198846">
                <a:tc>
                  <a:txBody>
                    <a:bodyPr/>
                    <a:lstStyle/>
                    <a:p>
                      <a:pPr algn="l" fontAlgn="ctr"/>
                      <a:r>
                        <a:rPr lang="en-US" sz="1100" u="none" strike="noStrike">
                          <a:effectLst/>
                        </a:rPr>
                        <a:t>Maintainability</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5%</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4</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4</a:t>
                      </a:r>
                      <a:endParaRPr lang="en-US" sz="1100" b="0" i="0" u="none" strike="noStrike" dirty="0">
                        <a:solidFill>
                          <a:srgbClr val="000000"/>
                        </a:solidFill>
                        <a:effectLst/>
                        <a:latin typeface="Arial"/>
                      </a:endParaRPr>
                    </a:p>
                  </a:txBody>
                  <a:tcPr marL="9525" marR="9525" marT="9525" marB="0" anchor="ctr"/>
                </a:tc>
              </a:tr>
              <a:tr h="210473">
                <a:tc>
                  <a:txBody>
                    <a:bodyPr/>
                    <a:lstStyle/>
                    <a:p>
                      <a:pPr algn="l" fontAlgn="ctr"/>
                      <a:r>
                        <a:rPr lang="en-US" sz="1100" u="none" strike="noStrike" dirty="0">
                          <a:effectLst/>
                        </a:rPr>
                        <a:t>Total Score</a:t>
                      </a:r>
                      <a:endParaRPr lang="en-US" sz="1100" b="1"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a:effectLst/>
                        </a:rPr>
                        <a:t>100%</a:t>
                      </a:r>
                      <a:endParaRPr lang="en-US" sz="1100" b="1"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3.4/5</a:t>
                      </a:r>
                      <a:endParaRPr lang="en-US" sz="1100" b="1"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4.6/5</a:t>
                      </a:r>
                      <a:endParaRPr lang="en-US" sz="1100" b="1" i="0" u="none" strike="noStrike" dirty="0">
                        <a:solidFill>
                          <a:srgbClr val="000000"/>
                        </a:solidFill>
                        <a:effectLst/>
                        <a:latin typeface="Arial"/>
                      </a:endParaRPr>
                    </a:p>
                  </a:txBody>
                  <a:tcPr marL="9525" marR="9525" marT="9525" marB="0" anchor="ctr"/>
                </a:tc>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4282588551"/>
              </p:ext>
            </p:extLst>
          </p:nvPr>
        </p:nvGraphicFramePr>
        <p:xfrm>
          <a:off x="5810043" y="3273366"/>
          <a:ext cx="5275204" cy="1505594"/>
        </p:xfrm>
        <a:graphic>
          <a:graphicData uri="http://schemas.openxmlformats.org/drawingml/2006/table">
            <a:tbl>
              <a:tblPr firstRow="1" bandRow="1">
                <a:tableStyleId>{00A15C55-8517-42AA-B614-E9B94910E393}</a:tableStyleId>
              </a:tblPr>
              <a:tblGrid>
                <a:gridCol w="2096785"/>
                <a:gridCol w="1040855"/>
                <a:gridCol w="977174"/>
                <a:gridCol w="1160390"/>
              </a:tblGrid>
              <a:tr h="307296">
                <a:tc>
                  <a:txBody>
                    <a:bodyPr/>
                    <a:lstStyle/>
                    <a:p>
                      <a:pPr algn="ctr" fontAlgn="ctr"/>
                      <a:r>
                        <a:rPr lang="en-US" sz="1100" u="none" strike="noStrike" dirty="0">
                          <a:effectLst/>
                        </a:rPr>
                        <a:t>Item</a:t>
                      </a:r>
                      <a:endParaRPr lang="en-US" sz="1100" b="1" i="0" u="none" strike="noStrike" dirty="0">
                        <a:solidFill>
                          <a:srgbClr val="FFFFFF"/>
                        </a:solidFill>
                        <a:effectLst/>
                        <a:latin typeface="Arial"/>
                      </a:endParaRPr>
                    </a:p>
                  </a:txBody>
                  <a:tcPr marL="9525" marR="9525" marT="9525" marB="0" anchor="ctr">
                    <a:solidFill>
                      <a:schemeClr val="accent4">
                        <a:lumMod val="75000"/>
                      </a:schemeClr>
                    </a:solidFill>
                  </a:tcPr>
                </a:tc>
                <a:tc>
                  <a:txBody>
                    <a:bodyPr/>
                    <a:lstStyle/>
                    <a:p>
                      <a:pPr algn="ctr" fontAlgn="ctr"/>
                      <a:r>
                        <a:rPr lang="en-US" sz="1100" u="none" strike="noStrike" dirty="0">
                          <a:effectLst/>
                        </a:rPr>
                        <a:t>Manual</a:t>
                      </a:r>
                      <a:endParaRPr lang="en-US" sz="1100" b="1" i="0" u="none" strike="noStrike" dirty="0">
                        <a:solidFill>
                          <a:srgbClr val="FFFFFF"/>
                        </a:solidFill>
                        <a:effectLst/>
                        <a:latin typeface="Arial"/>
                      </a:endParaRPr>
                    </a:p>
                  </a:txBody>
                  <a:tcPr marL="9525" marR="9525" marT="9525" marB="0" anchor="ctr">
                    <a:solidFill>
                      <a:schemeClr val="accent4">
                        <a:lumMod val="75000"/>
                      </a:schemeClr>
                    </a:solidFill>
                  </a:tcPr>
                </a:tc>
                <a:tc>
                  <a:txBody>
                    <a:bodyPr/>
                    <a:lstStyle/>
                    <a:p>
                      <a:pPr algn="ctr" fontAlgn="ctr"/>
                      <a:r>
                        <a:rPr lang="en-US" sz="1100" u="none" strike="noStrike" dirty="0">
                          <a:effectLst/>
                        </a:rPr>
                        <a:t>GitHub Copilot</a:t>
                      </a:r>
                      <a:endParaRPr lang="en-US" sz="1100" b="1" i="0" u="none" strike="noStrike" dirty="0">
                        <a:solidFill>
                          <a:srgbClr val="FFFFFF"/>
                        </a:solidFill>
                        <a:effectLst/>
                        <a:latin typeface="Arial"/>
                      </a:endParaRPr>
                    </a:p>
                  </a:txBody>
                  <a:tcPr marL="9525" marR="9525" marT="9525" marB="0" anchor="ctr">
                    <a:solidFill>
                      <a:schemeClr val="accent4">
                        <a:lumMod val="75000"/>
                      </a:schemeClr>
                    </a:solidFill>
                  </a:tcPr>
                </a:tc>
                <a:tc>
                  <a:txBody>
                    <a:bodyPr/>
                    <a:lstStyle/>
                    <a:p>
                      <a:pPr algn="ctr" fontAlgn="ctr"/>
                      <a:r>
                        <a:rPr lang="en-US" sz="1100" u="none" strike="noStrike" dirty="0">
                          <a:effectLst/>
                        </a:rPr>
                        <a:t>OpenAI GPT</a:t>
                      </a:r>
                      <a:endParaRPr lang="en-US" sz="1100" b="1" i="0" u="none" strike="noStrike" dirty="0">
                        <a:solidFill>
                          <a:srgbClr val="FFFFFF"/>
                        </a:solidFill>
                        <a:effectLst/>
                        <a:latin typeface="Arial"/>
                      </a:endParaRPr>
                    </a:p>
                  </a:txBody>
                  <a:tcPr marL="9525" marR="9525" marT="9525" marB="0" anchor="ctr">
                    <a:solidFill>
                      <a:schemeClr val="accent4">
                        <a:lumMod val="75000"/>
                      </a:schemeClr>
                    </a:solidFill>
                  </a:tcPr>
                </a:tc>
              </a:tr>
              <a:tr h="258593">
                <a:tc>
                  <a:txBody>
                    <a:bodyPr/>
                    <a:lstStyle/>
                    <a:p>
                      <a:pPr algn="l" fontAlgn="ctr"/>
                      <a:r>
                        <a:rPr lang="en-US" sz="1100" u="none" strike="noStrike" dirty="0">
                          <a:effectLst/>
                        </a:rPr>
                        <a:t>Test Case Creation Time (Hours)</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2</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a:effectLst/>
                        </a:rPr>
                        <a:t>0.08</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0.02</a:t>
                      </a:r>
                      <a:endParaRPr lang="en-US" sz="1100" b="0" i="0" u="none" strike="noStrike">
                        <a:solidFill>
                          <a:srgbClr val="000000"/>
                        </a:solidFill>
                        <a:effectLst/>
                        <a:latin typeface="Arial"/>
                      </a:endParaRPr>
                    </a:p>
                  </a:txBody>
                  <a:tcPr marL="9525" marR="9525" marT="9525" marB="0" anchor="ctr"/>
                </a:tc>
              </a:tr>
              <a:tr h="210392">
                <a:tc>
                  <a:txBody>
                    <a:bodyPr/>
                    <a:lstStyle/>
                    <a:p>
                      <a:pPr algn="l" fontAlgn="ctr"/>
                      <a:r>
                        <a:rPr lang="en-US" sz="1100" u="none" strike="noStrike">
                          <a:effectLst/>
                        </a:rPr>
                        <a:t>Requirement Analysis Time (Hours)</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3</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0.5</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0.25</a:t>
                      </a:r>
                      <a:endParaRPr lang="en-US" sz="1100" b="0" i="0" u="none" strike="noStrike" dirty="0">
                        <a:solidFill>
                          <a:srgbClr val="000000"/>
                        </a:solidFill>
                        <a:effectLst/>
                        <a:latin typeface="Arial"/>
                      </a:endParaRPr>
                    </a:p>
                  </a:txBody>
                  <a:tcPr marL="9525" marR="9525" marT="9525" marB="0" anchor="ctr"/>
                </a:tc>
              </a:tr>
              <a:tr h="226577">
                <a:tc>
                  <a:txBody>
                    <a:bodyPr/>
                    <a:lstStyle/>
                    <a:p>
                      <a:pPr algn="l" fontAlgn="ctr"/>
                      <a:r>
                        <a:rPr lang="en-US" sz="1100" u="none" strike="noStrike">
                          <a:effectLst/>
                        </a:rPr>
                        <a:t>Coverage (%)</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70</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68</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a:effectLst/>
                        </a:rPr>
                        <a:t>93</a:t>
                      </a:r>
                      <a:endParaRPr lang="en-US" sz="1100" b="0" i="0" u="none" strike="noStrike">
                        <a:solidFill>
                          <a:srgbClr val="000000"/>
                        </a:solidFill>
                        <a:effectLst/>
                        <a:latin typeface="Arial"/>
                      </a:endParaRPr>
                    </a:p>
                  </a:txBody>
                  <a:tcPr marL="9525" marR="9525" marT="9525" marB="0" anchor="ctr"/>
                </a:tc>
              </a:tr>
              <a:tr h="234754">
                <a:tc>
                  <a:txBody>
                    <a:bodyPr/>
                    <a:lstStyle/>
                    <a:p>
                      <a:pPr algn="l" fontAlgn="ctr"/>
                      <a:r>
                        <a:rPr lang="en-US" sz="1100" u="none" strike="noStrike">
                          <a:effectLst/>
                        </a:rPr>
                        <a:t>Missing Test Cases</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a:effectLst/>
                        </a:rPr>
                        <a:t>High</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Medium</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Low</a:t>
                      </a:r>
                      <a:endParaRPr lang="en-US" sz="1100" b="0" i="0" u="none" strike="noStrike" dirty="0">
                        <a:solidFill>
                          <a:srgbClr val="000000"/>
                        </a:solidFill>
                        <a:effectLst/>
                        <a:latin typeface="Arial"/>
                      </a:endParaRPr>
                    </a:p>
                  </a:txBody>
                  <a:tcPr marL="9525" marR="9525" marT="9525" marB="0" anchor="ctr"/>
                </a:tc>
              </a:tr>
              <a:tr h="267982">
                <a:tc>
                  <a:txBody>
                    <a:bodyPr/>
                    <a:lstStyle/>
                    <a:p>
                      <a:pPr algn="l" fontAlgn="ctr"/>
                      <a:r>
                        <a:rPr lang="en-US" sz="1100" u="none" strike="noStrike" dirty="0">
                          <a:effectLst/>
                        </a:rPr>
                        <a:t>Review Effort</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a:effectLst/>
                        </a:rPr>
                        <a:t>High</a:t>
                      </a:r>
                      <a:endParaRPr lang="en-US" sz="1100" b="0" i="0" u="none" strike="noStrike">
                        <a:solidFill>
                          <a:srgbClr val="000000"/>
                        </a:solidFill>
                        <a:effectLst/>
                        <a:latin typeface="Arial"/>
                      </a:endParaRPr>
                    </a:p>
                  </a:txBody>
                  <a:tcPr marL="9525" marR="9525" marT="9525" marB="0" anchor="ctr"/>
                </a:tc>
                <a:tc>
                  <a:txBody>
                    <a:bodyPr/>
                    <a:lstStyle/>
                    <a:p>
                      <a:pPr algn="ctr" fontAlgn="ctr"/>
                      <a:r>
                        <a:rPr lang="en-US" sz="1100" u="none" strike="noStrike" dirty="0">
                          <a:effectLst/>
                        </a:rPr>
                        <a:t>Medium</a:t>
                      </a:r>
                      <a:endParaRPr lang="en-US" sz="1100" b="0" i="0" u="none" strike="noStrike" dirty="0">
                        <a:solidFill>
                          <a:srgbClr val="000000"/>
                        </a:solidFill>
                        <a:effectLst/>
                        <a:latin typeface="Arial"/>
                      </a:endParaRPr>
                    </a:p>
                  </a:txBody>
                  <a:tcPr marL="9525" marR="9525" marT="9525" marB="0" anchor="ctr"/>
                </a:tc>
                <a:tc>
                  <a:txBody>
                    <a:bodyPr/>
                    <a:lstStyle/>
                    <a:p>
                      <a:pPr algn="ctr" fontAlgn="ctr"/>
                      <a:r>
                        <a:rPr lang="en-US" sz="1100" u="none" strike="noStrike" dirty="0">
                          <a:effectLst/>
                        </a:rPr>
                        <a:t>Low</a:t>
                      </a:r>
                      <a:endParaRPr lang="en-US" sz="1100" b="0" i="0" u="none" strike="noStrike" dirty="0">
                        <a:solidFill>
                          <a:srgbClr val="000000"/>
                        </a:solidFill>
                        <a:effectLst/>
                        <a:latin typeface="Arial"/>
                      </a:endParaRPr>
                    </a:p>
                  </a:txBody>
                  <a:tcPr marL="9525" marR="9525" marT="9525" marB="0" anchor="ctr"/>
                </a:tc>
              </a:tr>
            </a:tbl>
          </a:graphicData>
        </a:graphic>
      </p:graphicFrame>
      <p:sp>
        <p:nvSpPr>
          <p:cNvPr id="21" name="Rectangle 20"/>
          <p:cNvSpPr/>
          <p:nvPr/>
        </p:nvSpPr>
        <p:spPr>
          <a:xfrm rot="16200000" flipV="1">
            <a:off x="2771406" y="3482194"/>
            <a:ext cx="5603088" cy="45719"/>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10043" y="3001383"/>
            <a:ext cx="2580552" cy="200055"/>
          </a:xfrm>
          <a:prstGeom prst="rect">
            <a:avLst/>
          </a:prstGeom>
          <a:noFill/>
        </p:spPr>
        <p:txBody>
          <a:bodyPr wrap="square" lIns="0" tIns="0" rIns="0" bIns="0" anchor="t">
            <a:spAutoFit/>
          </a:bodyPr>
          <a:lstStyle/>
          <a:p>
            <a:r>
              <a:rPr lang="ja-JP" altLang="en-US" sz="1300" b="1" dirty="0">
                <a:solidFill>
                  <a:schemeClr val="accent4">
                    <a:lumMod val="75000"/>
                  </a:schemeClr>
                </a:solidFill>
                <a:latin typeface="BIZ UDPゴシック" pitchFamily="34" charset="-128"/>
                <a:ea typeface="BIZ UDPゴシック" pitchFamily="34" charset="-128"/>
              </a:rPr>
              <a:t>シンプルな要件に基づく</a:t>
            </a:r>
            <a:r>
              <a:rPr lang="en-US" altLang="ja-JP" sz="1300" b="1" dirty="0">
                <a:solidFill>
                  <a:schemeClr val="accent4">
                    <a:lumMod val="75000"/>
                  </a:schemeClr>
                </a:solidFill>
                <a:latin typeface="BIZ UDPゴシック" pitchFamily="34" charset="-128"/>
                <a:ea typeface="BIZ UDPゴシック" pitchFamily="34" charset="-128"/>
              </a:rPr>
              <a:t>PoC</a:t>
            </a:r>
            <a:r>
              <a:rPr lang="ja-JP" altLang="en-US" sz="1300" b="1" dirty="0">
                <a:solidFill>
                  <a:schemeClr val="accent4">
                    <a:lumMod val="75000"/>
                  </a:schemeClr>
                </a:solidFill>
                <a:latin typeface="BIZ UDPゴシック" pitchFamily="34" charset="-128"/>
                <a:ea typeface="BIZ UDPゴシック" pitchFamily="34" charset="-128"/>
              </a:rPr>
              <a:t>結果</a:t>
            </a:r>
            <a:endParaRPr sz="1300" b="1" i="0" dirty="0">
              <a:solidFill>
                <a:schemeClr val="accent4">
                  <a:lumMod val="75000"/>
                </a:schemeClr>
              </a:solidFill>
              <a:latin typeface="BIZ UDPゴシック" pitchFamily="34" charset="-128"/>
              <a:ea typeface="BIZ UDPゴシック" pitchFamily="34" charset="-128"/>
            </a:endParaRPr>
          </a:p>
        </p:txBody>
      </p:sp>
      <p:graphicFrame>
        <p:nvGraphicFramePr>
          <p:cNvPr id="24" name="Table 23"/>
          <p:cNvGraphicFramePr>
            <a:graphicFrameLocks noGrp="1"/>
          </p:cNvGraphicFramePr>
          <p:nvPr>
            <p:extLst>
              <p:ext uri="{D42A27DB-BD31-4B8C-83A1-F6EECF244321}">
                <p14:modId xmlns:p14="http://schemas.microsoft.com/office/powerpoint/2010/main" val="3078185064"/>
              </p:ext>
            </p:extLst>
          </p:nvPr>
        </p:nvGraphicFramePr>
        <p:xfrm>
          <a:off x="5834721" y="5287404"/>
          <a:ext cx="5258617" cy="776281"/>
        </p:xfrm>
        <a:graphic>
          <a:graphicData uri="http://schemas.openxmlformats.org/drawingml/2006/table">
            <a:tbl>
              <a:tblPr firstRow="1" bandRow="1">
                <a:tableStyleId>{93296810-A885-4BE3-A3E7-6D5BEEA58F35}</a:tableStyleId>
              </a:tblPr>
              <a:tblGrid>
                <a:gridCol w="2078447"/>
                <a:gridCol w="1561763"/>
                <a:gridCol w="1618407"/>
              </a:tblGrid>
              <a:tr h="307296">
                <a:tc>
                  <a:txBody>
                    <a:bodyPr/>
                    <a:lstStyle/>
                    <a:p>
                      <a:pPr algn="ctr" fontAlgn="ctr"/>
                      <a:r>
                        <a:rPr lang="ja-JP" altLang="en-US" sz="1100" b="1" i="0" u="none" strike="noStrike" dirty="0">
                          <a:solidFill>
                            <a:srgbClr val="000000"/>
                          </a:solidFill>
                          <a:effectLst/>
                          <a:latin typeface="Calibri"/>
                        </a:rPr>
                        <a:t>項目</a:t>
                      </a:r>
                    </a:p>
                  </a:txBody>
                  <a:tcPr marL="9525" marR="9525" marT="9525" marB="0" anchor="ctr">
                    <a:solidFill>
                      <a:schemeClr val="accent6">
                        <a:lumMod val="50000"/>
                      </a:schemeClr>
                    </a:solidFill>
                  </a:tcPr>
                </a:tc>
                <a:tc>
                  <a:txBody>
                    <a:bodyPr/>
                    <a:lstStyle/>
                    <a:p>
                      <a:pPr algn="ctr" fontAlgn="ctr"/>
                      <a:r>
                        <a:rPr lang="en-US" sz="1100" b="1" i="0" u="none" strike="noStrike">
                          <a:solidFill>
                            <a:srgbClr val="000000"/>
                          </a:solidFill>
                          <a:effectLst/>
                          <a:latin typeface="Calibri"/>
                        </a:rPr>
                        <a:t>OpenAI GPT-4 mini</a:t>
                      </a:r>
                    </a:p>
                  </a:txBody>
                  <a:tcPr marL="9525" marR="9525" marT="9525" marB="0" anchor="ctr">
                    <a:solidFill>
                      <a:schemeClr val="accent6">
                        <a:lumMod val="50000"/>
                      </a:schemeClr>
                    </a:solidFill>
                  </a:tcPr>
                </a:tc>
                <a:tc>
                  <a:txBody>
                    <a:bodyPr/>
                    <a:lstStyle/>
                    <a:p>
                      <a:pPr algn="ctr" fontAlgn="ctr"/>
                      <a:r>
                        <a:rPr lang="en-US" sz="1100" b="1" i="0" u="none" strike="noStrike">
                          <a:solidFill>
                            <a:srgbClr val="000000"/>
                          </a:solidFill>
                          <a:effectLst/>
                          <a:latin typeface="Calibri"/>
                        </a:rPr>
                        <a:t>GitHub Copilot（</a:t>
                      </a:r>
                      <a:r>
                        <a:rPr lang="ja-JP" altLang="en-US" sz="1100" b="1" i="0" u="none" strike="noStrike">
                          <a:solidFill>
                            <a:srgbClr val="000000"/>
                          </a:solidFill>
                          <a:effectLst/>
                          <a:latin typeface="Calibri"/>
                        </a:rPr>
                        <a:t>推定）</a:t>
                      </a:r>
                    </a:p>
                  </a:txBody>
                  <a:tcPr marL="9525" marR="9525" marT="9525" marB="0" anchor="ctr">
                    <a:solidFill>
                      <a:schemeClr val="accent6">
                        <a:lumMod val="50000"/>
                      </a:schemeClr>
                    </a:solidFill>
                  </a:tcPr>
                </a:tc>
              </a:tr>
              <a:tr h="258593">
                <a:tc>
                  <a:txBody>
                    <a:bodyPr/>
                    <a:lstStyle/>
                    <a:p>
                      <a:pPr algn="l" fontAlgn="ctr"/>
                      <a:r>
                        <a:rPr lang="ja-JP" altLang="en-US" sz="1100" b="0" i="0" u="none" strike="noStrike">
                          <a:solidFill>
                            <a:srgbClr val="000000"/>
                          </a:solidFill>
                          <a:effectLst/>
                          <a:latin typeface="Calibri"/>
                        </a:rPr>
                        <a:t>入力（</a:t>
                      </a:r>
                      <a:r>
                        <a:rPr lang="en-US" altLang="ja-JP" sz="1100" b="0" i="0" u="none" strike="noStrike">
                          <a:solidFill>
                            <a:srgbClr val="000000"/>
                          </a:solidFill>
                          <a:effectLst/>
                          <a:latin typeface="Calibri"/>
                        </a:rPr>
                        <a:t>100</a:t>
                      </a:r>
                      <a:r>
                        <a:rPr lang="ja-JP" altLang="en-US" sz="1100" b="0" i="0" u="none" strike="noStrike">
                          <a:solidFill>
                            <a:srgbClr val="000000"/>
                          </a:solidFill>
                          <a:effectLst/>
                          <a:latin typeface="Calibri"/>
                        </a:rPr>
                        <a:t>万トークン）</a:t>
                      </a:r>
                    </a:p>
                  </a:txBody>
                  <a:tcPr marL="9525" marR="9525" marT="9525" marB="0" anchor="ctr"/>
                </a:tc>
                <a:tc>
                  <a:txBody>
                    <a:bodyPr/>
                    <a:lstStyle/>
                    <a:p>
                      <a:pPr algn="l" fontAlgn="ctr"/>
                      <a:r>
                        <a:rPr lang="ja-JP" altLang="en-US" sz="1100" b="0" i="0" u="none" strike="noStrike">
                          <a:solidFill>
                            <a:srgbClr val="000000"/>
                          </a:solidFill>
                          <a:effectLst/>
                          <a:latin typeface="Calibri"/>
                        </a:rPr>
                        <a:t>約 </a:t>
                      </a:r>
                      <a:r>
                        <a:rPr lang="en-US" altLang="ja-JP" sz="1100" b="0" i="0" u="none" strike="noStrike">
                          <a:solidFill>
                            <a:srgbClr val="000000"/>
                          </a:solidFill>
                          <a:effectLst/>
                          <a:latin typeface="Calibri"/>
                        </a:rPr>
                        <a:t>$0.15</a:t>
                      </a:r>
                    </a:p>
                  </a:txBody>
                  <a:tcPr marL="9525" marR="9525" marT="9525" marB="0" anchor="ctr"/>
                </a:tc>
                <a:tc>
                  <a:txBody>
                    <a:bodyPr/>
                    <a:lstStyle/>
                    <a:p>
                      <a:pPr algn="l" fontAlgn="ctr"/>
                      <a:r>
                        <a:rPr lang="ja-JP" altLang="en-US" sz="1100" b="0" i="0" u="none" strike="noStrike">
                          <a:solidFill>
                            <a:srgbClr val="000000"/>
                          </a:solidFill>
                          <a:effectLst/>
                          <a:latin typeface="Calibri"/>
                        </a:rPr>
                        <a:t>約 </a:t>
                      </a:r>
                      <a:r>
                        <a:rPr lang="en-US" altLang="ja-JP" sz="1100" b="0" i="0" u="none" strike="noStrike">
                          <a:solidFill>
                            <a:srgbClr val="000000"/>
                          </a:solidFill>
                          <a:effectLst/>
                          <a:latin typeface="Calibri"/>
                        </a:rPr>
                        <a:t>$0.15</a:t>
                      </a:r>
                      <a:r>
                        <a:rPr lang="ja-JP" altLang="en-US" sz="1100" b="0" i="0" u="none" strike="noStrike">
                          <a:solidFill>
                            <a:srgbClr val="000000"/>
                          </a:solidFill>
                          <a:effectLst/>
                          <a:latin typeface="Calibri"/>
                        </a:rPr>
                        <a:t>～</a:t>
                      </a:r>
                      <a:r>
                        <a:rPr lang="en-US" altLang="ja-JP" sz="1100" b="0" i="0" u="none" strike="noStrike">
                          <a:solidFill>
                            <a:srgbClr val="000000"/>
                          </a:solidFill>
                          <a:effectLst/>
                          <a:latin typeface="Calibri"/>
                        </a:rPr>
                        <a:t>0.20※</a:t>
                      </a:r>
                    </a:p>
                  </a:txBody>
                  <a:tcPr marL="9525" marR="9525" marT="9525" marB="0" anchor="ctr"/>
                </a:tc>
              </a:tr>
              <a:tr h="210392">
                <a:tc>
                  <a:txBody>
                    <a:bodyPr/>
                    <a:lstStyle/>
                    <a:p>
                      <a:pPr algn="l" fontAlgn="ctr"/>
                      <a:r>
                        <a:rPr lang="ja-JP" altLang="en-US" sz="1100" b="0" i="0" u="none" strike="noStrike">
                          <a:solidFill>
                            <a:srgbClr val="000000"/>
                          </a:solidFill>
                          <a:effectLst/>
                          <a:latin typeface="Calibri"/>
                        </a:rPr>
                        <a:t>出力（</a:t>
                      </a:r>
                      <a:r>
                        <a:rPr lang="en-US" altLang="ja-JP" sz="1100" b="0" i="0" u="none" strike="noStrike">
                          <a:solidFill>
                            <a:srgbClr val="000000"/>
                          </a:solidFill>
                          <a:effectLst/>
                          <a:latin typeface="Calibri"/>
                        </a:rPr>
                        <a:t>100</a:t>
                      </a:r>
                      <a:r>
                        <a:rPr lang="ja-JP" altLang="en-US" sz="1100" b="0" i="0" u="none" strike="noStrike">
                          <a:solidFill>
                            <a:srgbClr val="000000"/>
                          </a:solidFill>
                          <a:effectLst/>
                          <a:latin typeface="Calibri"/>
                        </a:rPr>
                        <a:t>万トークン）</a:t>
                      </a:r>
                    </a:p>
                  </a:txBody>
                  <a:tcPr marL="9525" marR="9525" marT="9525" marB="0" anchor="ctr"/>
                </a:tc>
                <a:tc>
                  <a:txBody>
                    <a:bodyPr/>
                    <a:lstStyle/>
                    <a:p>
                      <a:pPr algn="l" fontAlgn="ctr"/>
                      <a:r>
                        <a:rPr lang="ja-JP" altLang="en-US" sz="1100" b="0" i="0" u="none" strike="noStrike">
                          <a:solidFill>
                            <a:srgbClr val="000000"/>
                          </a:solidFill>
                          <a:effectLst/>
                          <a:latin typeface="Calibri"/>
                        </a:rPr>
                        <a:t>約 </a:t>
                      </a:r>
                      <a:r>
                        <a:rPr lang="en-US" altLang="ja-JP" sz="1100" b="0" i="0" u="none" strike="noStrike">
                          <a:solidFill>
                            <a:srgbClr val="000000"/>
                          </a:solidFill>
                          <a:effectLst/>
                          <a:latin typeface="Calibri"/>
                        </a:rPr>
                        <a:t>$0.60</a:t>
                      </a:r>
                    </a:p>
                  </a:txBody>
                  <a:tcPr marL="9525" marR="9525" marT="9525" marB="0" anchor="ctr"/>
                </a:tc>
                <a:tc>
                  <a:txBody>
                    <a:bodyPr/>
                    <a:lstStyle/>
                    <a:p>
                      <a:pPr algn="l" fontAlgn="ctr"/>
                      <a:r>
                        <a:rPr lang="ja-JP" altLang="en-US" sz="1100" b="0" i="0" u="none" strike="noStrike" dirty="0">
                          <a:solidFill>
                            <a:srgbClr val="000000"/>
                          </a:solidFill>
                          <a:effectLst/>
                          <a:latin typeface="Calibri"/>
                        </a:rPr>
                        <a:t>約 </a:t>
                      </a:r>
                      <a:r>
                        <a:rPr lang="en-US" altLang="ja-JP" sz="1100" b="0" i="0" u="none" strike="noStrike" dirty="0">
                          <a:solidFill>
                            <a:srgbClr val="000000"/>
                          </a:solidFill>
                          <a:effectLst/>
                          <a:latin typeface="Calibri"/>
                        </a:rPr>
                        <a:t>$0.60</a:t>
                      </a:r>
                      <a:r>
                        <a:rPr lang="ja-JP" altLang="en-US" sz="1100" b="0" i="0" u="none" strike="noStrike" dirty="0">
                          <a:solidFill>
                            <a:srgbClr val="000000"/>
                          </a:solidFill>
                          <a:effectLst/>
                          <a:latin typeface="Calibri"/>
                        </a:rPr>
                        <a:t>～</a:t>
                      </a:r>
                      <a:r>
                        <a:rPr lang="en-US" altLang="ja-JP" sz="1100" b="0" i="0" u="none" strike="noStrike" dirty="0">
                          <a:solidFill>
                            <a:srgbClr val="000000"/>
                          </a:solidFill>
                          <a:effectLst/>
                          <a:latin typeface="Calibri"/>
                        </a:rPr>
                        <a:t>0.80※</a:t>
                      </a:r>
                    </a:p>
                  </a:txBody>
                  <a:tcPr marL="9525" marR="9525" marT="9525" marB="0" anchor="ctr"/>
                </a:tc>
              </a:tr>
            </a:tbl>
          </a:graphicData>
        </a:graphic>
      </p:graphicFrame>
      <p:sp>
        <p:nvSpPr>
          <p:cNvPr id="25" name="TextBox 24"/>
          <p:cNvSpPr txBox="1"/>
          <p:nvPr/>
        </p:nvSpPr>
        <p:spPr>
          <a:xfrm>
            <a:off x="5834721" y="4980337"/>
            <a:ext cx="2580552" cy="200055"/>
          </a:xfrm>
          <a:prstGeom prst="rect">
            <a:avLst/>
          </a:prstGeom>
          <a:noFill/>
        </p:spPr>
        <p:txBody>
          <a:bodyPr wrap="square" lIns="0" tIns="0" rIns="0" bIns="0" anchor="t">
            <a:spAutoFit/>
          </a:bodyPr>
          <a:lstStyle/>
          <a:p>
            <a:r>
              <a:rPr lang="ja-JP" altLang="en-US" sz="1300" b="1" dirty="0">
                <a:solidFill>
                  <a:schemeClr val="accent2">
                    <a:lumMod val="75000"/>
                  </a:schemeClr>
                </a:solidFill>
                <a:latin typeface="BIZ UDPゴシック" pitchFamily="34" charset="-128"/>
                <a:ea typeface="BIZ UDPゴシック" pitchFamily="34" charset="-128"/>
              </a:rPr>
              <a:t>推定コスト（非公式）</a:t>
            </a:r>
            <a:endParaRPr sz="1300" b="1" i="0" dirty="0">
              <a:solidFill>
                <a:schemeClr val="accent2">
                  <a:lumMod val="75000"/>
                </a:schemeClr>
              </a:solidFill>
              <a:latin typeface="BIZ UDPゴシック" pitchFamily="34" charset="-128"/>
              <a:ea typeface="BIZ UDPゴシック" pitchFamily="34" charset="-128"/>
            </a:endParaRPr>
          </a:p>
        </p:txBody>
      </p:sp>
    </p:spTree>
    <p:extLst>
      <p:ext uri="{BB962C8B-B14F-4D97-AF65-F5344CB8AC3E}">
        <p14:creationId xmlns:p14="http://schemas.microsoft.com/office/powerpoint/2010/main" val="2143800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3" name="TextBox 2"/>
          <p:cNvSpPr txBox="1"/>
          <p:nvPr/>
        </p:nvSpPr>
        <p:spPr>
          <a:xfrm>
            <a:off x="274320" y="183642"/>
            <a:ext cx="9692640" cy="365760"/>
          </a:xfrm>
          <a:prstGeom prst="rect">
            <a:avLst/>
          </a:prstGeom>
          <a:noFill/>
        </p:spPr>
        <p:txBody>
          <a:bodyPr wrap="square" lIns="0" tIns="0" rIns="0" bIns="0" anchor="t">
            <a:spAutoFit/>
          </a:bodyPr>
          <a:lstStyle/>
          <a:p>
            <a:pPr algn="l">
              <a:lnSpc>
                <a:spcPct val="100000"/>
              </a:lnSpc>
            </a:pPr>
            <a:r>
              <a:rPr sz="1700" b="1" i="0" dirty="0" err="1">
                <a:solidFill>
                  <a:srgbClr val="212121"/>
                </a:solidFill>
                <a:latin typeface="Yu Gothic"/>
              </a:rPr>
              <a:t>主な所見と結論</a:t>
            </a:r>
            <a:endParaRPr sz="1700" b="1" i="0" dirty="0">
              <a:solidFill>
                <a:srgbClr val="212121"/>
              </a:solidFill>
              <a:latin typeface="Yu Gothic"/>
            </a:endParaRPr>
          </a:p>
        </p:txBody>
      </p:sp>
      <p:pic>
        <p:nvPicPr>
          <p:cNvPr id="4" name="Picture 3" descr="dat_logo.jpeg"/>
          <p:cNvPicPr>
            <a:picLocks noChangeAspect="1"/>
          </p:cNvPicPr>
          <p:nvPr/>
        </p:nvPicPr>
        <p:blipFill>
          <a:blip r:embed="rId3"/>
          <a:stretch>
            <a:fillRect/>
          </a:stretch>
        </p:blipFill>
        <p:spPr>
          <a:xfrm>
            <a:off x="10881360" y="128016"/>
            <a:ext cx="845584" cy="420624"/>
          </a:xfrm>
          <a:prstGeom prst="rect">
            <a:avLst/>
          </a:prstGeom>
        </p:spPr>
      </p:pic>
      <p:sp>
        <p:nvSpPr>
          <p:cNvPr id="5" name="Rectangle 4"/>
          <p:cNvSpPr/>
          <p:nvPr/>
        </p:nvSpPr>
        <p:spPr>
          <a:xfrm>
            <a:off x="274320" y="603504"/>
            <a:ext cx="11640312" cy="27432"/>
          </a:xfrm>
          <a:prstGeom prst="rect">
            <a:avLst/>
          </a:prstGeom>
          <a:solidFill>
            <a:srgbClr val="3760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338560" y="6492240"/>
            <a:ext cx="548640" cy="274320"/>
          </a:xfrm>
          <a:prstGeom prst="rect">
            <a:avLst/>
          </a:prstGeom>
          <a:noFill/>
        </p:spPr>
        <p:txBody>
          <a:bodyPr wrap="square" lIns="0" tIns="0" rIns="0" bIns="0" anchor="t">
            <a:spAutoFit/>
          </a:bodyPr>
          <a:lstStyle/>
          <a:p>
            <a:pPr algn="r">
              <a:lnSpc>
                <a:spcPct val="100000"/>
              </a:lnSpc>
            </a:pPr>
            <a:r>
              <a:rPr sz="1050" b="0" i="0">
                <a:solidFill>
                  <a:srgbClr val="808080"/>
                </a:solidFill>
                <a:latin typeface="Yu Gothic"/>
              </a:rPr>
              <a:t>4</a:t>
            </a:r>
          </a:p>
        </p:txBody>
      </p:sp>
      <p:sp>
        <p:nvSpPr>
          <p:cNvPr id="7" name="TextBox 6"/>
          <p:cNvSpPr txBox="1"/>
          <p:nvPr/>
        </p:nvSpPr>
        <p:spPr>
          <a:xfrm>
            <a:off x="274320" y="822960"/>
            <a:ext cx="5623560" cy="246221"/>
          </a:xfrm>
          <a:prstGeom prst="rect">
            <a:avLst/>
          </a:prstGeom>
          <a:noFill/>
        </p:spPr>
        <p:txBody>
          <a:bodyPr wrap="square" lIns="0" tIns="0" rIns="0" bIns="0" anchor="t">
            <a:spAutoFit/>
          </a:bodyPr>
          <a:lstStyle/>
          <a:p>
            <a:pPr algn="l">
              <a:lnSpc>
                <a:spcPct val="100000"/>
              </a:lnSpc>
            </a:pPr>
            <a:r>
              <a:rPr sz="1600" b="1" i="0" dirty="0" err="1" smtClean="0">
                <a:solidFill>
                  <a:srgbClr val="548235"/>
                </a:solidFill>
                <a:latin typeface="Yu Gothic"/>
              </a:rPr>
              <a:t>OpenAI</a:t>
            </a:r>
            <a:r>
              <a:rPr sz="1600" b="1" i="0" dirty="0" err="1">
                <a:solidFill>
                  <a:srgbClr val="548235"/>
                </a:solidFill>
                <a:latin typeface="Yu Gothic"/>
              </a:rPr>
              <a:t>版</a:t>
            </a:r>
            <a:endParaRPr sz="1600" b="1" i="0" dirty="0">
              <a:solidFill>
                <a:srgbClr val="548235"/>
              </a:solidFill>
              <a:latin typeface="Yu Gothic"/>
            </a:endParaRPr>
          </a:p>
        </p:txBody>
      </p:sp>
      <p:sp>
        <p:nvSpPr>
          <p:cNvPr id="8" name="TextBox 7"/>
          <p:cNvSpPr txBox="1"/>
          <p:nvPr/>
        </p:nvSpPr>
        <p:spPr>
          <a:xfrm>
            <a:off x="274320" y="1143000"/>
            <a:ext cx="5623560" cy="1599925"/>
          </a:xfrm>
          <a:prstGeom prst="rect">
            <a:avLst/>
          </a:prstGeom>
          <a:noFill/>
        </p:spPr>
        <p:txBody>
          <a:bodyPr wrap="square" lIns="0" tIns="0" rIns="0" bIns="0" anchor="t">
            <a:spAutoFit/>
          </a:bodyPr>
          <a:lstStyle/>
          <a:p>
            <a:pPr algn="l">
              <a:lnSpc>
                <a:spcPct val="115000"/>
              </a:lnSpc>
            </a:pPr>
            <a:r>
              <a:rPr sz="1300" b="0" i="0" dirty="0">
                <a:solidFill>
                  <a:srgbClr val="212121"/>
                </a:solidFill>
                <a:latin typeface="Yu Gothic"/>
              </a:rPr>
              <a:t>・</a:t>
            </a:r>
            <a:r>
              <a:rPr sz="1300" b="0" i="0" dirty="0" err="1">
                <a:solidFill>
                  <a:srgbClr val="212121"/>
                </a:solidFill>
                <a:latin typeface="Yu Gothic"/>
              </a:rPr>
              <a:t>必須チェック・桁数境界値（OK側／NG側とも</a:t>
            </a:r>
            <a:r>
              <a:rPr sz="1300" b="0" i="0" dirty="0">
                <a:solidFill>
                  <a:srgbClr val="212121"/>
                </a:solidFill>
                <a:latin typeface="Yu Gothic"/>
              </a:rPr>
              <a:t>）・</a:t>
            </a:r>
            <a:r>
              <a:rPr sz="1300" b="0" i="0" dirty="0" err="1">
                <a:solidFill>
                  <a:srgbClr val="212121"/>
                </a:solidFill>
                <a:latin typeface="Yu Gothic"/>
              </a:rPr>
              <a:t>全角文字</a:t>
            </a:r>
            <a:r>
              <a:rPr sz="1300" b="0" i="0" dirty="0">
                <a:solidFill>
                  <a:srgbClr val="212121"/>
                </a:solidFill>
                <a:latin typeface="Yu Gothic"/>
              </a:rPr>
              <a:t>/特殊文字・アカウントロックまで、21項目中18項目を具体的な入力データを伴うテストケースで網羅しており、そのまま実行可能な水準にある。</a:t>
            </a:r>
          </a:p>
          <a:p>
            <a:pPr algn="l">
              <a:lnSpc>
                <a:spcPct val="115000"/>
              </a:lnSpc>
            </a:pPr>
            <a:endParaRPr sz="1300" b="0" i="0" dirty="0">
              <a:solidFill>
                <a:srgbClr val="212121"/>
              </a:solidFill>
              <a:latin typeface="Yu Gothic"/>
            </a:endParaRPr>
          </a:p>
          <a:p>
            <a:pPr algn="l">
              <a:lnSpc>
                <a:spcPct val="115000"/>
              </a:lnSpc>
            </a:pPr>
            <a:r>
              <a:rPr sz="1300" b="0" i="0" dirty="0">
                <a:solidFill>
                  <a:srgbClr val="212121"/>
                </a:solidFill>
                <a:latin typeface="Yu Gothic"/>
              </a:rPr>
              <a:t>・認証失敗時・認証成功時のメッセージ表示や画面遷移、および処理フロー全体の一連の整合性については、テストケース自体はあるものの確認が汎用的にとどまっており、厳密な文言・</a:t>
            </a:r>
            <a:r>
              <a:rPr sz="1300" b="0" i="0" dirty="0" smtClean="0">
                <a:solidFill>
                  <a:srgbClr val="212121"/>
                </a:solidFill>
                <a:latin typeface="Yu Gothic"/>
              </a:rPr>
              <a:t>画面確認までは踏み込めていない。</a:t>
            </a:r>
            <a:endParaRPr sz="1300" b="0" i="0" dirty="0">
              <a:solidFill>
                <a:srgbClr val="212121"/>
              </a:solidFill>
              <a:latin typeface="Yu Gothic"/>
            </a:endParaRPr>
          </a:p>
        </p:txBody>
      </p:sp>
      <p:sp>
        <p:nvSpPr>
          <p:cNvPr id="9" name="TextBox 8"/>
          <p:cNvSpPr txBox="1"/>
          <p:nvPr/>
        </p:nvSpPr>
        <p:spPr>
          <a:xfrm>
            <a:off x="6263640" y="822960"/>
            <a:ext cx="5669280" cy="246221"/>
          </a:xfrm>
          <a:prstGeom prst="rect">
            <a:avLst/>
          </a:prstGeom>
          <a:noFill/>
        </p:spPr>
        <p:txBody>
          <a:bodyPr wrap="square" lIns="0" tIns="0" rIns="0" bIns="0" anchor="t">
            <a:spAutoFit/>
          </a:bodyPr>
          <a:lstStyle/>
          <a:p>
            <a:pPr algn="l">
              <a:lnSpc>
                <a:spcPct val="100000"/>
              </a:lnSpc>
            </a:pPr>
            <a:r>
              <a:rPr sz="1600" b="1" i="0" dirty="0" smtClean="0">
                <a:solidFill>
                  <a:srgbClr val="2E75B6"/>
                </a:solidFill>
                <a:latin typeface="Yu Gothic"/>
              </a:rPr>
              <a:t>GitHub </a:t>
            </a:r>
            <a:r>
              <a:rPr sz="1600" b="1" i="0" dirty="0" err="1">
                <a:solidFill>
                  <a:srgbClr val="2E75B6"/>
                </a:solidFill>
                <a:latin typeface="Yu Gothic"/>
              </a:rPr>
              <a:t>Copilot版</a:t>
            </a:r>
            <a:endParaRPr sz="1600" b="1" i="0" dirty="0">
              <a:solidFill>
                <a:srgbClr val="2E75B6"/>
              </a:solidFill>
              <a:latin typeface="Yu Gothic"/>
            </a:endParaRPr>
          </a:p>
        </p:txBody>
      </p:sp>
      <p:sp>
        <p:nvSpPr>
          <p:cNvPr id="10" name="TextBox 9"/>
          <p:cNvSpPr txBox="1"/>
          <p:nvPr/>
        </p:nvSpPr>
        <p:spPr>
          <a:xfrm>
            <a:off x="6263640" y="1143000"/>
            <a:ext cx="5669280" cy="1369862"/>
          </a:xfrm>
          <a:prstGeom prst="rect">
            <a:avLst/>
          </a:prstGeom>
          <a:noFill/>
        </p:spPr>
        <p:txBody>
          <a:bodyPr wrap="square" lIns="0" tIns="0" rIns="0" bIns="0" anchor="t">
            <a:spAutoFit/>
          </a:bodyPr>
          <a:lstStyle/>
          <a:p>
            <a:pPr algn="l">
              <a:lnSpc>
                <a:spcPct val="115000"/>
              </a:lnSpc>
            </a:pPr>
            <a:r>
              <a:rPr sz="1300" b="0" i="0" dirty="0">
                <a:solidFill>
                  <a:srgbClr val="212121"/>
                </a:solidFill>
                <a:latin typeface="Yu Gothic"/>
              </a:rPr>
              <a:t>・生成テストケース24件のうち複数件が設計書の文章断片をそのままタイトルへ流用しており、一部は文字化け・欠落（例：「ー</a:t>
            </a:r>
            <a:r>
              <a:rPr sz="1300" b="0" i="0" dirty="0" err="1">
                <a:solidFill>
                  <a:srgbClr val="212121"/>
                </a:solidFill>
                <a:latin typeface="Yu Gothic"/>
              </a:rPr>
              <a:t>IDとパスワードを入力し</a:t>
            </a:r>
            <a:r>
              <a:rPr sz="1300" b="0" i="0" dirty="0">
                <a:solidFill>
                  <a:srgbClr val="212121"/>
                </a:solidFill>
                <a:latin typeface="Yu Gothic"/>
              </a:rPr>
              <a:t>」＝</a:t>
            </a:r>
            <a:r>
              <a:rPr sz="1300" b="0" i="0" dirty="0" err="1">
                <a:solidFill>
                  <a:srgbClr val="212121"/>
                </a:solidFill>
                <a:latin typeface="Yu Gothic"/>
              </a:rPr>
              <a:t>先頭の「ユーザ」が欠落）が見られる</a:t>
            </a:r>
            <a:r>
              <a:rPr sz="1300" b="0" i="0" dirty="0">
                <a:solidFill>
                  <a:srgbClr val="212121"/>
                </a:solidFill>
                <a:latin typeface="Yu Gothic"/>
              </a:rPr>
              <a:t>。</a:t>
            </a:r>
          </a:p>
          <a:p>
            <a:pPr algn="l">
              <a:lnSpc>
                <a:spcPct val="115000"/>
              </a:lnSpc>
            </a:pPr>
            <a:endParaRPr sz="1300" b="0" i="0" dirty="0">
              <a:solidFill>
                <a:srgbClr val="212121"/>
              </a:solidFill>
              <a:latin typeface="Yu Gothic"/>
            </a:endParaRPr>
          </a:p>
          <a:p>
            <a:pPr algn="l">
              <a:lnSpc>
                <a:spcPct val="115000"/>
              </a:lnSpc>
            </a:pPr>
            <a:r>
              <a:rPr sz="1300" b="0" i="0" dirty="0">
                <a:solidFill>
                  <a:srgbClr val="212121"/>
                </a:solidFill>
                <a:latin typeface="Yu Gothic"/>
              </a:rPr>
              <a:t>・基本設計書の業務ルールに明記されているアカウントロック関連のテストケースが1件も存在しない</a:t>
            </a:r>
            <a:r>
              <a:rPr sz="1300" b="0" i="0" dirty="0" smtClean="0">
                <a:solidFill>
                  <a:srgbClr val="212121"/>
                </a:solidFill>
                <a:latin typeface="Yu Gothic"/>
              </a:rPr>
              <a:t>。</a:t>
            </a:r>
            <a:endParaRPr sz="1300" b="0" i="0" dirty="0">
              <a:solidFill>
                <a:srgbClr val="212121"/>
              </a:solidFill>
              <a:latin typeface="Yu Gothic"/>
            </a:endParaRPr>
          </a:p>
        </p:txBody>
      </p:sp>
      <p:sp>
        <p:nvSpPr>
          <p:cNvPr id="11" name="Rectangle 10"/>
          <p:cNvSpPr/>
          <p:nvPr/>
        </p:nvSpPr>
        <p:spPr>
          <a:xfrm>
            <a:off x="274320" y="3154679"/>
            <a:ext cx="1165860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74320" y="3319272"/>
            <a:ext cx="11658600" cy="246221"/>
          </a:xfrm>
          <a:prstGeom prst="rect">
            <a:avLst/>
          </a:prstGeom>
          <a:noFill/>
        </p:spPr>
        <p:txBody>
          <a:bodyPr wrap="square" lIns="0" tIns="0" rIns="0" bIns="0" anchor="t">
            <a:spAutoFit/>
          </a:bodyPr>
          <a:lstStyle/>
          <a:p>
            <a:pPr algn="l">
              <a:lnSpc>
                <a:spcPct val="100000"/>
              </a:lnSpc>
            </a:pPr>
            <a:r>
              <a:rPr sz="1600" b="1" i="0" dirty="0" err="1" smtClean="0">
                <a:solidFill>
                  <a:srgbClr val="1F3864"/>
                </a:solidFill>
                <a:latin typeface="Yu Gothic"/>
              </a:rPr>
              <a:t>結論と推奨</a:t>
            </a:r>
            <a:endParaRPr sz="1600" b="1" i="0" dirty="0">
              <a:solidFill>
                <a:srgbClr val="1F3864"/>
              </a:solidFill>
              <a:latin typeface="Yu Gothic"/>
            </a:endParaRPr>
          </a:p>
        </p:txBody>
      </p:sp>
      <p:sp>
        <p:nvSpPr>
          <p:cNvPr id="13" name="Rounded Rectangle 12"/>
          <p:cNvSpPr/>
          <p:nvPr/>
        </p:nvSpPr>
        <p:spPr>
          <a:xfrm>
            <a:off x="274320" y="3685031"/>
            <a:ext cx="11658600" cy="2058543"/>
          </a:xfrm>
          <a:prstGeom prst="roundRect">
            <a:avLst>
              <a:gd name="adj" fmla="val 5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3907917"/>
            <a:ext cx="11292840" cy="1540422"/>
          </a:xfrm>
          <a:prstGeom prst="rect">
            <a:avLst/>
          </a:prstGeom>
          <a:noFill/>
        </p:spPr>
        <p:txBody>
          <a:bodyPr wrap="square" lIns="0" tIns="0" rIns="0" bIns="0" anchor="t">
            <a:spAutoFit/>
          </a:bodyPr>
          <a:lstStyle/>
          <a:p>
            <a:pPr algn="l">
              <a:lnSpc>
                <a:spcPct val="110000"/>
              </a:lnSpc>
            </a:pPr>
            <a:r>
              <a:rPr sz="1300" b="0" i="0" dirty="0">
                <a:solidFill>
                  <a:srgbClr val="212121"/>
                </a:solidFill>
                <a:latin typeface="Yu Gothic"/>
              </a:rPr>
              <a:t>基本設計書・詳細設計書の記載内容のみを基準とした場合、OpenAI直接API版の方が、要求観点に対する実質的なカバレッジ（約93%）</a:t>
            </a:r>
            <a:r>
              <a:rPr sz="1300" b="0" i="0" dirty="0" err="1">
                <a:solidFill>
                  <a:srgbClr val="212121"/>
                </a:solidFill>
                <a:latin typeface="Yu Gothic"/>
              </a:rPr>
              <a:t>および生成されるテストデータの具体性の両面で明確に優位にある。GitHub</a:t>
            </a:r>
            <a:r>
              <a:rPr sz="1300" b="0" i="0" dirty="0">
                <a:solidFill>
                  <a:srgbClr val="212121"/>
                </a:solidFill>
                <a:latin typeface="Yu Gothic"/>
              </a:rPr>
              <a:t> Copilot版は開発者以外のQA担当者でも扱いやすいワークフローという利点はあるが、テストケースの品質（具体的な入力値・境界値・アカウントロック観点の欠落）に課題があり、実質的なカバレッジは約12%にとどまるため、実運用投入前に生成ロジックの大幅な改善が必要である。</a:t>
            </a:r>
          </a:p>
          <a:p>
            <a:pPr algn="l">
              <a:lnSpc>
                <a:spcPct val="110000"/>
              </a:lnSpc>
            </a:pPr>
            <a:endParaRPr sz="1300" b="0" i="0" dirty="0">
              <a:solidFill>
                <a:srgbClr val="212121"/>
              </a:solidFill>
              <a:latin typeface="Yu Gothic"/>
            </a:endParaRPr>
          </a:p>
          <a:p>
            <a:pPr>
              <a:lnSpc>
                <a:spcPct val="110000"/>
              </a:lnSpc>
            </a:pPr>
            <a:r>
              <a:rPr lang="ja-JP" altLang="en-US" sz="1300" dirty="0">
                <a:solidFill>
                  <a:srgbClr val="212121"/>
                </a:solidFill>
                <a:latin typeface="Yu Gothic" pitchFamily="34" charset="-128"/>
                <a:ea typeface="Yu Gothic" pitchFamily="34" charset="-128"/>
              </a:rPr>
              <a:t>また、ツールが出力するカバレッジレポートの数値（</a:t>
            </a:r>
            <a:r>
              <a:rPr lang="en-US" altLang="ja-JP" sz="1300" dirty="0">
                <a:solidFill>
                  <a:srgbClr val="212121"/>
                </a:solidFill>
                <a:latin typeface="Yu Gothic" pitchFamily="34" charset="-128"/>
                <a:ea typeface="Yu Gothic" pitchFamily="34" charset="-128"/>
              </a:rPr>
              <a:t>OpenAI</a:t>
            </a:r>
            <a:r>
              <a:rPr lang="ja-JP" altLang="en-US" sz="1300" dirty="0">
                <a:solidFill>
                  <a:srgbClr val="212121"/>
                </a:solidFill>
                <a:latin typeface="Yu Gothic" pitchFamily="34" charset="-128"/>
                <a:ea typeface="Yu Gothic" pitchFamily="34" charset="-128"/>
              </a:rPr>
              <a:t>直接</a:t>
            </a:r>
            <a:r>
              <a:rPr lang="en-US" altLang="ja-JP" sz="1300" dirty="0">
                <a:solidFill>
                  <a:srgbClr val="212121"/>
                </a:solidFill>
                <a:latin typeface="Yu Gothic" pitchFamily="34" charset="-128"/>
                <a:ea typeface="Yu Gothic" pitchFamily="34" charset="-128"/>
              </a:rPr>
              <a:t>API</a:t>
            </a:r>
            <a:r>
              <a:rPr lang="ja-JP" altLang="en-US" sz="1300" dirty="0">
                <a:solidFill>
                  <a:srgbClr val="212121"/>
                </a:solidFill>
                <a:latin typeface="Yu Gothic" pitchFamily="34" charset="-128"/>
                <a:ea typeface="Yu Gothic" pitchFamily="34" charset="-128"/>
              </a:rPr>
              <a:t>版：</a:t>
            </a:r>
            <a:r>
              <a:rPr lang="en-US" altLang="ja-JP" sz="1300" dirty="0">
                <a:solidFill>
                  <a:srgbClr val="212121"/>
                </a:solidFill>
                <a:latin typeface="Yu Gothic" pitchFamily="34" charset="-128"/>
                <a:ea typeface="Yu Gothic" pitchFamily="34" charset="-128"/>
              </a:rPr>
              <a:t>85.4%</a:t>
            </a:r>
            <a:r>
              <a:rPr lang="ja-JP" altLang="en-US" sz="1300" dirty="0">
                <a:solidFill>
                  <a:srgbClr val="212121"/>
                </a:solidFill>
                <a:latin typeface="Yu Gothic" pitchFamily="34" charset="-128"/>
                <a:ea typeface="Yu Gothic" pitchFamily="34" charset="-128"/>
              </a:rPr>
              <a:t>、</a:t>
            </a:r>
            <a:r>
              <a:rPr lang="en-US" altLang="ja-JP" sz="1300" dirty="0">
                <a:solidFill>
                  <a:srgbClr val="212121"/>
                </a:solidFill>
                <a:latin typeface="Yu Gothic" pitchFamily="34" charset="-128"/>
                <a:ea typeface="Yu Gothic" pitchFamily="34" charset="-128"/>
              </a:rPr>
              <a:t>GitHub Copilot</a:t>
            </a:r>
            <a:r>
              <a:rPr lang="ja-JP" altLang="en-US" sz="1300" dirty="0">
                <a:solidFill>
                  <a:srgbClr val="212121"/>
                </a:solidFill>
                <a:latin typeface="Yu Gothic" pitchFamily="34" charset="-128"/>
                <a:ea typeface="Yu Gothic" pitchFamily="34" charset="-128"/>
              </a:rPr>
              <a:t>版：</a:t>
            </a:r>
            <a:r>
              <a:rPr lang="en-US" altLang="ja-JP" sz="1300" dirty="0">
                <a:solidFill>
                  <a:srgbClr val="212121"/>
                </a:solidFill>
                <a:latin typeface="Yu Gothic" pitchFamily="34" charset="-128"/>
                <a:ea typeface="Yu Gothic" pitchFamily="34" charset="-128"/>
              </a:rPr>
              <a:t>67.9%</a:t>
            </a:r>
            <a:r>
              <a:rPr lang="ja-JP" altLang="en-US" sz="1300" dirty="0">
                <a:solidFill>
                  <a:srgbClr val="212121"/>
                </a:solidFill>
                <a:latin typeface="Yu Gothic" pitchFamily="34" charset="-128"/>
                <a:ea typeface="Yu Gothic" pitchFamily="34" charset="-128"/>
              </a:rPr>
              <a:t>）については、候補データ抽出ロジックに基づく参考値であり、実際のテスト観点の網羅状況とは差異がある。</a:t>
            </a:r>
            <a:endParaRPr sz="1300" b="0" i="0" dirty="0">
              <a:solidFill>
                <a:srgbClr val="212121"/>
              </a:solidFill>
              <a:latin typeface="Yu Gothic" pitchFamily="34" charset="-128"/>
              <a:ea typeface="Yu Gothic"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776</TotalTime>
  <Words>973</Words>
  <Application>Microsoft Office PowerPoint</Application>
  <PresentationFormat>Custom</PresentationFormat>
  <Paragraphs>299</Paragraphs>
  <Slides>5</Slides>
  <Notes>1</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Su Nandar Htwe</cp:lastModifiedBy>
  <cp:revision>17</cp:revision>
  <dcterms:created xsi:type="dcterms:W3CDTF">2013-01-27T09:14:16Z</dcterms:created>
  <dcterms:modified xsi:type="dcterms:W3CDTF">2026-07-07T03:05:24Z</dcterms:modified>
  <cp:category/>
</cp:coreProperties>
</file>